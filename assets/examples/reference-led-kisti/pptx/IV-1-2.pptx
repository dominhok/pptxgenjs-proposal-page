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905970"/>
  <p:notesSz cx="990597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17B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hapterBlock"/>
          <p:cNvSpPr/>
          <p:nvPr/>
        </p:nvSpPr>
        <p:spPr>
          <a:xfrm>
            <a:off x="0" y="164592"/>
            <a:ext cx="1133856" cy="658368"/>
          </a:xfrm>
          <a:prstGeom prst="parallelogram">
            <a:avLst/>
          </a:prstGeom>
          <a:solidFill>
            <a:srgbClr val="0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ectionRibbon"/>
          <p:cNvSpPr/>
          <p:nvPr/>
        </p:nvSpPr>
        <p:spPr>
          <a:xfrm>
            <a:off x="987552" y="164592"/>
            <a:ext cx="4187952" cy="658368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ChapterLabel"/>
          <p:cNvSpPr/>
          <p:nvPr/>
        </p:nvSpPr>
        <p:spPr>
          <a:xfrm>
            <a:off x="91440" y="256032"/>
            <a:ext cx="420624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CH.</a:t>
            </a:r>
            <a:endParaRPr lang="en-US" sz="1000" dirty="0"/>
          </a:p>
        </p:txBody>
      </p:sp>
      <p:sp>
        <p:nvSpPr>
          <p:cNvPr id="6" name="SectionCode"/>
          <p:cNvSpPr/>
          <p:nvPr/>
        </p:nvSpPr>
        <p:spPr>
          <a:xfrm>
            <a:off x="91440" y="438912"/>
            <a:ext cx="731520" cy="28346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IV</a:t>
            </a:r>
            <a:endParaRPr lang="en-US" sz="2000" dirty="0"/>
          </a:p>
        </p:txBody>
      </p:sp>
      <p:sp>
        <p:nvSpPr>
          <p:cNvPr id="7" name="SectionTitle"/>
          <p:cNvSpPr/>
          <p:nvPr/>
        </p:nvSpPr>
        <p:spPr>
          <a:xfrm>
            <a:off x="1298448" y="329184"/>
            <a:ext cx="3401568" cy="31089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및 품질 · 시험절차</a:t>
            </a:r>
            <a:endParaRPr lang="en-US" sz="1400" dirty="0"/>
          </a:p>
        </p:txBody>
      </p:sp>
      <p:sp>
        <p:nvSpPr>
          <p:cNvPr id="8" name="KistiMark"/>
          <p:cNvSpPr/>
          <p:nvPr/>
        </p:nvSpPr>
        <p:spPr>
          <a:xfrm>
            <a:off x="5715000" y="274320"/>
            <a:ext cx="713232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KISTI</a:t>
            </a:r>
            <a:endParaRPr lang="en-US" sz="1400" dirty="0"/>
          </a:p>
        </p:txBody>
      </p:sp>
      <p:sp>
        <p:nvSpPr>
          <p:cNvPr id="9" name="ProjectRibbon"/>
          <p:cNvSpPr/>
          <p:nvPr/>
        </p:nvSpPr>
        <p:spPr>
          <a:xfrm>
            <a:off x="3364992" y="914400"/>
            <a:ext cx="3493008" cy="228600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ProjectName"/>
          <p:cNvSpPr/>
          <p:nvPr/>
        </p:nvSpPr>
        <p:spPr>
          <a:xfrm>
            <a:off x="3657600" y="914400"/>
            <a:ext cx="290779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KISTI 공공 R&amp;D AI 시스템 개발</a:t>
            </a:r>
            <a:endParaRPr lang="en-US" sz="1000" dirty="0"/>
          </a:p>
        </p:txBody>
      </p:sp>
      <p:sp>
        <p:nvSpPr>
          <p:cNvPr id="11" name="TitleAccent"/>
          <p:cNvSpPr/>
          <p:nvPr/>
        </p:nvSpPr>
        <p:spPr>
          <a:xfrm>
            <a:off x="365760" y="1271016"/>
            <a:ext cx="6400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itle"/>
          <p:cNvSpPr/>
          <p:nvPr/>
        </p:nvSpPr>
        <p:spPr>
          <a:xfrm>
            <a:off x="512064" y="1225296"/>
            <a:ext cx="589788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시험절차·일정 및 완료기준</a:t>
            </a:r>
            <a:endParaRPr lang="en-US" sz="2000" dirty="0"/>
          </a:p>
        </p:txBody>
      </p:sp>
      <p:sp>
        <p:nvSpPr>
          <p:cNvPr id="13" name="Subtitle"/>
          <p:cNvSpPr/>
          <p:nvPr/>
        </p:nvSpPr>
        <p:spPr>
          <a:xfrm>
            <a:off x="521208" y="1673352"/>
            <a:ext cx="5806440" cy="24688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M1~M6 일정에 맞춰 기술·통합·성능/보안/UAT Gate를 통과한 기능만 릴리스 기준선으로 승격</a:t>
            </a:r>
            <a:endParaRPr lang="en-US" sz="1000" dirty="0"/>
          </a:p>
        </p:txBody>
      </p:sp>
      <p:sp>
        <p:nvSpPr>
          <p:cNvPr id="14" name="FooterNavy"/>
          <p:cNvSpPr/>
          <p:nvPr/>
        </p:nvSpPr>
        <p:spPr>
          <a:xfrm>
            <a:off x="0" y="9537192"/>
            <a:ext cx="2057400" cy="365760"/>
          </a:xfrm>
          <a:prstGeom prst="parallelogram">
            <a:avLst/>
          </a:prstGeom>
          <a:solidFill>
            <a:srgbClr val="0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FooterBlue"/>
          <p:cNvSpPr/>
          <p:nvPr/>
        </p:nvSpPr>
        <p:spPr>
          <a:xfrm>
            <a:off x="1645920" y="9537192"/>
            <a:ext cx="2971800" cy="365760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FooterCyan"/>
          <p:cNvSpPr/>
          <p:nvPr/>
        </p:nvSpPr>
        <p:spPr>
          <a:xfrm>
            <a:off x="4224528" y="9537192"/>
            <a:ext cx="2633472" cy="365760"/>
          </a:xfrm>
          <a:prstGeom prst="parallelogram">
            <a:avLst/>
          </a:prstGeom>
          <a:solidFill>
            <a:srgbClr val="17B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Footer"/>
          <p:cNvSpPr/>
          <p:nvPr/>
        </p:nvSpPr>
        <p:spPr>
          <a:xfrm>
            <a:off x="274320" y="9610344"/>
            <a:ext cx="1152144" cy="1645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DMT Labs</a:t>
            </a:r>
            <a:endParaRPr lang="en-US" sz="1000" dirty="0"/>
          </a:p>
        </p:txBody>
      </p:sp>
      <p:sp>
        <p:nvSpPr>
          <p:cNvPr id="18" name="PageCode"/>
          <p:cNvSpPr/>
          <p:nvPr/>
        </p:nvSpPr>
        <p:spPr>
          <a:xfrm>
            <a:off x="5925312" y="9592056"/>
            <a:ext cx="50292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200" dirty="0"/>
          </a:p>
        </p:txBody>
      </p:sp>
      <p:sp>
        <p:nvSpPr>
          <p:cNvPr id="19" name="Flow__GateLabel"/>
          <p:cNvSpPr/>
          <p:nvPr/>
        </p:nvSpPr>
        <p:spPr>
          <a:xfrm>
            <a:off x="384048" y="1993392"/>
            <a:ext cx="1572768" cy="274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C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M1 — M6 Stage Gate</a:t>
            </a:r>
            <a:endParaRPr lang="en-US" sz="1000" dirty="0"/>
          </a:p>
        </p:txBody>
      </p:sp>
      <p:sp>
        <p:nvSpPr>
          <p:cNvPr id="20" name="Flow__Month1"/>
          <p:cNvSpPr/>
          <p:nvPr/>
        </p:nvSpPr>
        <p:spPr>
          <a:xfrm>
            <a:off x="384048" y="2377440"/>
            <a:ext cx="914400" cy="38404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M1</a:t>
            </a:r>
            <a:endParaRPr lang="en-US" sz="1000" dirty="0"/>
          </a:p>
        </p:txBody>
      </p:sp>
      <p:sp>
        <p:nvSpPr>
          <p:cNvPr id="21" name="Flow__Month2"/>
          <p:cNvSpPr/>
          <p:nvPr/>
        </p:nvSpPr>
        <p:spPr>
          <a:xfrm>
            <a:off x="1408176" y="2377440"/>
            <a:ext cx="914400" cy="38404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M2</a:t>
            </a:r>
            <a:endParaRPr lang="en-US" sz="1000" dirty="0"/>
          </a:p>
        </p:txBody>
      </p:sp>
      <p:sp>
        <p:nvSpPr>
          <p:cNvPr id="22" name="Flow__Month3"/>
          <p:cNvSpPr/>
          <p:nvPr/>
        </p:nvSpPr>
        <p:spPr>
          <a:xfrm>
            <a:off x="2432304" y="2377440"/>
            <a:ext cx="914400" cy="384048"/>
          </a:xfrm>
          <a:prstGeom prst="roundRect">
            <a:avLst/>
          </a:prstGeom>
          <a:solidFill>
            <a:srgbClr val="F3E8FF"/>
          </a:solidFill>
          <a:ln w="10160"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M3</a:t>
            </a:r>
            <a:endParaRPr lang="en-US" sz="1000" dirty="0"/>
          </a:p>
        </p:txBody>
      </p:sp>
      <p:sp>
        <p:nvSpPr>
          <p:cNvPr id="23" name="Flow__Month4"/>
          <p:cNvSpPr/>
          <p:nvPr/>
        </p:nvSpPr>
        <p:spPr>
          <a:xfrm>
            <a:off x="3456432" y="2377440"/>
            <a:ext cx="914400" cy="384048"/>
          </a:xfrm>
          <a:prstGeom prst="roundRect">
            <a:avLst/>
          </a:prstGeom>
          <a:solidFill>
            <a:srgbClr val="F3E8FF"/>
          </a:solidFill>
          <a:ln w="10160"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M4</a:t>
            </a:r>
            <a:endParaRPr lang="en-US" sz="1000" dirty="0"/>
          </a:p>
        </p:txBody>
      </p:sp>
      <p:sp>
        <p:nvSpPr>
          <p:cNvPr id="24" name="Flow__Month5"/>
          <p:cNvSpPr/>
          <p:nvPr/>
        </p:nvSpPr>
        <p:spPr>
          <a:xfrm>
            <a:off x="4480560" y="2377440"/>
            <a:ext cx="914400" cy="38404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M5</a:t>
            </a:r>
            <a:endParaRPr lang="en-US" sz="1000" dirty="0"/>
          </a:p>
        </p:txBody>
      </p:sp>
      <p:sp>
        <p:nvSpPr>
          <p:cNvPr id="25" name="Flow__Month6"/>
          <p:cNvSpPr/>
          <p:nvPr/>
        </p:nvSpPr>
        <p:spPr>
          <a:xfrm>
            <a:off x="5504688" y="2377440"/>
            <a:ext cx="914400" cy="38404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M6</a:t>
            </a:r>
            <a:endParaRPr lang="en-US" sz="1000" dirty="0"/>
          </a:p>
        </p:txBody>
      </p:sp>
      <p:sp>
        <p:nvSpPr>
          <p:cNvPr id="26" name="Flow__GateNo1"/>
          <p:cNvSpPr/>
          <p:nvPr/>
        </p:nvSpPr>
        <p:spPr>
          <a:xfrm>
            <a:off x="384048" y="3044952"/>
            <a:ext cx="658368" cy="1078992"/>
          </a:xfrm>
          <a:prstGeom prst="roundRect">
            <a:avLst/>
          </a:prstGeom>
          <a:solidFill>
            <a:srgbClr val="2563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00" dirty="0"/>
          </a:p>
        </p:txBody>
      </p:sp>
      <p:sp>
        <p:nvSpPr>
          <p:cNvPr id="27" name="Flow__Gate1"/>
          <p:cNvSpPr/>
          <p:nvPr/>
        </p:nvSpPr>
        <p:spPr>
          <a:xfrm>
            <a:off x="1152144" y="3044952"/>
            <a:ext cx="4133088" cy="107899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2563EB"/>
            </a:solidFill>
          </a:ln>
        </p:spPr>
        <p:txBody>
          <a:bodyPr wrap="square" lIns="660400" tIns="1016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기술·단위 시험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구현 적합성 · 단위결과 · 코드 수준 결함 제거</a:t>
            </a:r>
            <a:endParaRPr lang="en-US" sz="1000" dirty="0"/>
          </a:p>
        </p:txBody>
      </p:sp>
      <p:sp>
        <p:nvSpPr>
          <p:cNvPr id="28" name="Flow__Gate1__Badge"/>
          <p:cNvSpPr/>
          <p:nvPr/>
        </p:nvSpPr>
        <p:spPr>
          <a:xfrm>
            <a:off x="1298448" y="3355848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pic>
        <p:nvPicPr>
          <p:cNvPr id="29" name="Flow__Gate1__Icon" descr="Flow__Gate1__Ico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4460" y="3451860"/>
            <a:ext cx="265176" cy="265176"/>
          </a:xfrm>
          <a:prstGeom prst="rect">
            <a:avLst/>
          </a:prstGeom>
        </p:spPr>
      </p:pic>
      <p:sp>
        <p:nvSpPr>
          <p:cNvPr id="30" name="Flow__Pass1"/>
          <p:cNvSpPr/>
          <p:nvPr/>
        </p:nvSpPr>
        <p:spPr>
          <a:xfrm>
            <a:off x="5440680" y="3319272"/>
            <a:ext cx="1033272" cy="530352"/>
          </a:xfrm>
          <a:prstGeom prst="roundRect">
            <a:avLst/>
          </a:prstGeom>
          <a:solidFill>
            <a:srgbClr val="16A34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PASS</a:t>
            </a:r>
            <a:endParaRPr lang="en-US" sz="1000" dirty="0"/>
          </a:p>
        </p:txBody>
      </p:sp>
      <p:sp>
        <p:nvSpPr>
          <p:cNvPr id="31" name="Flow__GateLink1"/>
          <p:cNvSpPr/>
          <p:nvPr/>
        </p:nvSpPr>
        <p:spPr>
          <a:xfrm>
            <a:off x="713232" y="4123944"/>
            <a:ext cx="0" cy="338328"/>
          </a:xfrm>
          <a:prstGeom prst="line">
            <a:avLst/>
          </a:prstGeom>
          <a:noFill/>
          <a:ln w="25400">
            <a:solidFill>
              <a:srgbClr val="CFDCEC"/>
            </a:solidFill>
            <a:prstDash val="solid"/>
            <a:headEnd type="none"/>
            <a:tailEnd type="triangle"/>
          </a:ln>
        </p:spPr>
      </p:sp>
      <p:sp>
        <p:nvSpPr>
          <p:cNvPr id="32" name="Flow__GateNo2"/>
          <p:cNvSpPr/>
          <p:nvPr/>
        </p:nvSpPr>
        <p:spPr>
          <a:xfrm>
            <a:off x="384048" y="4462272"/>
            <a:ext cx="658368" cy="1078992"/>
          </a:xfrm>
          <a:prstGeom prst="roundRect">
            <a:avLst/>
          </a:prstGeom>
          <a:solidFill>
            <a:srgbClr val="7C3AE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00" dirty="0"/>
          </a:p>
        </p:txBody>
      </p:sp>
      <p:sp>
        <p:nvSpPr>
          <p:cNvPr id="33" name="Flow__Gate2"/>
          <p:cNvSpPr/>
          <p:nvPr/>
        </p:nvSpPr>
        <p:spPr>
          <a:xfrm>
            <a:off x="1152144" y="4462272"/>
            <a:ext cx="4133088" cy="1078992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7C3AED"/>
            </a:solidFill>
          </a:ln>
        </p:spPr>
        <p:txBody>
          <a:bodyPr wrap="square" lIns="660400" tIns="1016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시험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서비스·데이터·API 연계 · 오류경로 · 회귀 영향 검증</a:t>
            </a:r>
            <a:endParaRPr lang="en-US" sz="1000" dirty="0"/>
          </a:p>
        </p:txBody>
      </p:sp>
      <p:sp>
        <p:nvSpPr>
          <p:cNvPr id="34" name="Flow__Gate2__Badge"/>
          <p:cNvSpPr/>
          <p:nvPr/>
        </p:nvSpPr>
        <p:spPr>
          <a:xfrm>
            <a:off x="1298448" y="4773168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pic>
        <p:nvPicPr>
          <p:cNvPr id="35" name="Flow__Gate2__Icon" descr="Flow__Gate2__Icon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4460" y="4869180"/>
            <a:ext cx="265176" cy="265176"/>
          </a:xfrm>
          <a:prstGeom prst="rect">
            <a:avLst/>
          </a:prstGeom>
        </p:spPr>
      </p:pic>
      <p:sp>
        <p:nvSpPr>
          <p:cNvPr id="36" name="Flow__Pass2"/>
          <p:cNvSpPr/>
          <p:nvPr/>
        </p:nvSpPr>
        <p:spPr>
          <a:xfrm>
            <a:off x="5440680" y="4736592"/>
            <a:ext cx="1033272" cy="530352"/>
          </a:xfrm>
          <a:prstGeom prst="roundRect">
            <a:avLst/>
          </a:prstGeom>
          <a:solidFill>
            <a:srgbClr val="16A34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PASS</a:t>
            </a:r>
            <a:endParaRPr lang="en-US" sz="1000" dirty="0"/>
          </a:p>
        </p:txBody>
      </p:sp>
      <p:sp>
        <p:nvSpPr>
          <p:cNvPr id="37" name="Flow__GateLink2"/>
          <p:cNvSpPr/>
          <p:nvPr/>
        </p:nvSpPr>
        <p:spPr>
          <a:xfrm>
            <a:off x="713232" y="5541264"/>
            <a:ext cx="0" cy="338328"/>
          </a:xfrm>
          <a:prstGeom prst="line">
            <a:avLst/>
          </a:prstGeom>
          <a:noFill/>
          <a:ln w="25400">
            <a:solidFill>
              <a:srgbClr val="CFDCEC"/>
            </a:solidFill>
            <a:prstDash val="solid"/>
            <a:headEnd type="none"/>
            <a:tailEnd type="triangle"/>
          </a:ln>
        </p:spPr>
      </p:sp>
      <p:sp>
        <p:nvSpPr>
          <p:cNvPr id="38" name="Flow__GateNo3"/>
          <p:cNvSpPr/>
          <p:nvPr/>
        </p:nvSpPr>
        <p:spPr>
          <a:xfrm>
            <a:off x="384048" y="5879592"/>
            <a:ext cx="658368" cy="1078992"/>
          </a:xfrm>
          <a:prstGeom prst="roundRect">
            <a:avLst/>
          </a:prstGeom>
          <a:solidFill>
            <a:srgbClr val="0F766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00" dirty="0"/>
          </a:p>
        </p:txBody>
      </p:sp>
      <p:sp>
        <p:nvSpPr>
          <p:cNvPr id="39" name="Flow__Gate3"/>
          <p:cNvSpPr/>
          <p:nvPr/>
        </p:nvSpPr>
        <p:spPr>
          <a:xfrm>
            <a:off x="1152144" y="5879592"/>
            <a:ext cx="4133088" cy="1078992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wrap="square" lIns="660400" tIns="1016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성능·보안·UAT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응답성·부하·취약점·사용자 수용성 및 운영준비 검증</a:t>
            </a:r>
            <a:endParaRPr lang="en-US" sz="1000" dirty="0"/>
          </a:p>
        </p:txBody>
      </p:sp>
      <p:sp>
        <p:nvSpPr>
          <p:cNvPr id="40" name="Flow__Gate3__Badge"/>
          <p:cNvSpPr/>
          <p:nvPr/>
        </p:nvSpPr>
        <p:spPr>
          <a:xfrm>
            <a:off x="1298448" y="6190488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F766E"/>
            </a:solidFill>
            <a:prstDash val="solid"/>
          </a:ln>
        </p:spPr>
      </p:sp>
      <p:pic>
        <p:nvPicPr>
          <p:cNvPr id="41" name="Flow__Gate3__Icon" descr="Flow__Gate3__Ico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4460" y="6286500"/>
            <a:ext cx="265176" cy="265176"/>
          </a:xfrm>
          <a:prstGeom prst="rect">
            <a:avLst/>
          </a:prstGeom>
        </p:spPr>
      </p:pic>
      <p:sp>
        <p:nvSpPr>
          <p:cNvPr id="42" name="Flow__Pass3"/>
          <p:cNvSpPr/>
          <p:nvPr/>
        </p:nvSpPr>
        <p:spPr>
          <a:xfrm>
            <a:off x="5440680" y="6153912"/>
            <a:ext cx="1033272" cy="530352"/>
          </a:xfrm>
          <a:prstGeom prst="roundRect">
            <a:avLst/>
          </a:prstGeom>
          <a:solidFill>
            <a:srgbClr val="16A34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PASS</a:t>
            </a:r>
            <a:endParaRPr lang="en-US" sz="1000" dirty="0"/>
          </a:p>
        </p:txBody>
      </p:sp>
      <p:sp>
        <p:nvSpPr>
          <p:cNvPr id="43" name="Support__DefectLabel"/>
          <p:cNvSpPr/>
          <p:nvPr/>
        </p:nvSpPr>
        <p:spPr>
          <a:xfrm>
            <a:off x="384048" y="7342632"/>
            <a:ext cx="1024128" cy="347472"/>
          </a:xfrm>
          <a:prstGeom prst="roundRect">
            <a:avLst/>
          </a:prstGeom>
          <a:solidFill>
            <a:srgbClr val="0B2E5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결함 등급</a:t>
            </a:r>
            <a:endParaRPr lang="en-US" sz="1000" dirty="0"/>
          </a:p>
        </p:txBody>
      </p:sp>
      <p:sp>
        <p:nvSpPr>
          <p:cNvPr id="44" name="Support__Defect1"/>
          <p:cNvSpPr/>
          <p:nvPr/>
        </p:nvSpPr>
        <p:spPr>
          <a:xfrm>
            <a:off x="1536192" y="7342632"/>
            <a:ext cx="1463040" cy="34747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Critical · 즉시 차단</a:t>
            </a:r>
            <a:endParaRPr lang="en-US" sz="1000" dirty="0"/>
          </a:p>
        </p:txBody>
      </p:sp>
      <p:sp>
        <p:nvSpPr>
          <p:cNvPr id="45" name="Support__Defect2"/>
          <p:cNvSpPr/>
          <p:nvPr/>
        </p:nvSpPr>
        <p:spPr>
          <a:xfrm>
            <a:off x="3145536" y="7342632"/>
            <a:ext cx="1463040" cy="347472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Major · 조치 후 재시험</a:t>
            </a:r>
            <a:endParaRPr lang="en-US" sz="1000" dirty="0"/>
          </a:p>
        </p:txBody>
      </p:sp>
      <p:sp>
        <p:nvSpPr>
          <p:cNvPr id="46" name="Support__Defect3"/>
          <p:cNvSpPr/>
          <p:nvPr/>
        </p:nvSpPr>
        <p:spPr>
          <a:xfrm>
            <a:off x="4754880" y="7342632"/>
            <a:ext cx="1463040" cy="34747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Minor · 계획 조치</a:t>
            </a:r>
            <a:endParaRPr lang="en-US" sz="1000" dirty="0"/>
          </a:p>
        </p:txBody>
      </p:sp>
      <p:sp>
        <p:nvSpPr>
          <p:cNvPr id="47" name="Support__ReleaseRule"/>
          <p:cNvSpPr/>
          <p:nvPr/>
        </p:nvSpPr>
        <p:spPr>
          <a:xfrm>
            <a:off x="384048" y="7845552"/>
            <a:ext cx="6089904" cy="384048"/>
          </a:xfrm>
          <a:prstGeom prst="roundRect">
            <a:avLst/>
          </a:prstGeom>
          <a:solidFill>
            <a:srgbClr val="ECFDF3"/>
          </a:solidFill>
          <a:ln w="1143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PASS + 회귀검증 완료 기능만 Release Baseline 반영</a:t>
            </a:r>
            <a:endParaRPr lang="en-US" sz="1100" dirty="0"/>
          </a:p>
        </p:txBody>
      </p:sp>
      <p:sp>
        <p:nvSpPr>
          <p:cNvPr id="48" name="Message__Label"/>
          <p:cNvSpPr/>
          <p:nvPr/>
        </p:nvSpPr>
        <p:spPr>
          <a:xfrm>
            <a:off x="384048" y="8467344"/>
            <a:ext cx="1024128" cy="274320"/>
          </a:xfrm>
          <a:prstGeom prst="roundRect">
            <a:avLst/>
          </a:prstGeom>
          <a:solidFill>
            <a:srgbClr val="2563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</a:t>
            </a:r>
            <a:endParaRPr lang="en-US" sz="1000" dirty="0"/>
          </a:p>
        </p:txBody>
      </p:sp>
      <p:sp>
        <p:nvSpPr>
          <p:cNvPr id="49" name="Message__Band"/>
          <p:cNvSpPr/>
          <p:nvPr/>
        </p:nvSpPr>
        <p:spPr>
          <a:xfrm>
            <a:off x="384048" y="8778240"/>
            <a:ext cx="6089904" cy="566928"/>
          </a:xfrm>
          <a:prstGeom prst="roundRect">
            <a:avLst/>
          </a:prstGeom>
          <a:solidFill>
            <a:srgbClr val="0B2E5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Gate 통과와 회귀검증이 모두 확인된 기능만 릴리스 기준선에 반영하여 결함 전파를 차단합니다.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DMT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단계별 시험절차·일정 및 완료기준</dc:title>
  <dc:subject>2026 KISTI 독자 파운데이션 모델 기반 공공 R&amp;D AI 시스템 개발</dc:subject>
  <dc:creator>DMT Labs</dc:creator>
  <cp:lastModifiedBy>DMT Labs</cp:lastModifiedBy>
  <cp:revision>1</cp:revision>
  <dcterms:created xsi:type="dcterms:W3CDTF">2026-07-18T12:50:57Z</dcterms:created>
  <dcterms:modified xsi:type="dcterms:W3CDTF">2026-07-18T12:50:57Z</dcterms:modified>
</cp:coreProperties>
</file>