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hapterBlock"/>
          <p:cNvSpPr/>
          <p:nvPr/>
        </p:nvSpPr>
        <p:spPr>
          <a:xfrm>
            <a:off x="0" y="164592"/>
            <a:ext cx="1133856" cy="658368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ectionRibbon"/>
          <p:cNvSpPr/>
          <p:nvPr/>
        </p:nvSpPr>
        <p:spPr>
          <a:xfrm>
            <a:off x="987552" y="164592"/>
            <a:ext cx="4187952" cy="658368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hapterLabel"/>
          <p:cNvSpPr/>
          <p:nvPr/>
        </p:nvSpPr>
        <p:spPr>
          <a:xfrm>
            <a:off x="91440" y="256032"/>
            <a:ext cx="420624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</a:t>
            </a:r>
            <a:endParaRPr lang="en-US" sz="1000" dirty="0"/>
          </a:p>
        </p:txBody>
      </p:sp>
      <p:sp>
        <p:nvSpPr>
          <p:cNvPr id="6" name="SectionCode"/>
          <p:cNvSpPr/>
          <p:nvPr/>
        </p:nvSpPr>
        <p:spPr>
          <a:xfrm>
            <a:off x="91440" y="438912"/>
            <a:ext cx="731520" cy="283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SectionTitle"/>
          <p:cNvSpPr/>
          <p:nvPr/>
        </p:nvSpPr>
        <p:spPr>
          <a:xfrm>
            <a:off x="1298448" y="329184"/>
            <a:ext cx="3401568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제안개요 · 목표시스템</a:t>
            </a:r>
            <a:endParaRPr lang="en-US" sz="1400" dirty="0"/>
          </a:p>
        </p:txBody>
      </p:sp>
      <p:sp>
        <p:nvSpPr>
          <p:cNvPr id="8" name="KistiMark"/>
          <p:cNvSpPr/>
          <p:nvPr/>
        </p:nvSpPr>
        <p:spPr>
          <a:xfrm>
            <a:off x="5715000" y="274320"/>
            <a:ext cx="71323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</a:t>
            </a:r>
            <a:endParaRPr lang="en-US" sz="1400" dirty="0"/>
          </a:p>
        </p:txBody>
      </p:sp>
      <p:sp>
        <p:nvSpPr>
          <p:cNvPr id="9" name="ProjectRibbon"/>
          <p:cNvSpPr/>
          <p:nvPr/>
        </p:nvSpPr>
        <p:spPr>
          <a:xfrm>
            <a:off x="3364992" y="914400"/>
            <a:ext cx="3493008" cy="22860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rojectName"/>
          <p:cNvSpPr/>
          <p:nvPr/>
        </p:nvSpPr>
        <p:spPr>
          <a:xfrm>
            <a:off x="3657600" y="914400"/>
            <a:ext cx="29077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공공 R&amp;D AI 시스템 개발</a:t>
            </a:r>
            <a:endParaRPr lang="en-US" sz="1000" dirty="0"/>
          </a:p>
        </p:txBody>
      </p:sp>
      <p:sp>
        <p:nvSpPr>
          <p:cNvPr id="11" name="TitleAccent"/>
          <p:cNvSpPr/>
          <p:nvPr/>
        </p:nvSpPr>
        <p:spPr>
          <a:xfrm>
            <a:off x="365760" y="127101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itle"/>
          <p:cNvSpPr/>
          <p:nvPr/>
        </p:nvSpPr>
        <p:spPr>
          <a:xfrm>
            <a:off x="512064" y="1225296"/>
            <a:ext cx="589788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목표시스템 구성도 및 구성체계</a:t>
            </a:r>
            <a:endParaRPr lang="en-US" sz="2000" dirty="0"/>
          </a:p>
        </p:txBody>
      </p:sp>
      <p:sp>
        <p:nvSpPr>
          <p:cNvPr id="13" name="Subtitle"/>
          <p:cNvSpPr/>
          <p:nvPr/>
        </p:nvSpPr>
        <p:spPr>
          <a:xfrm>
            <a:off x="521208" y="1673352"/>
            <a:ext cx="580644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업무·AI·지식·데이터·인프라를 계층화하고 공통 통제로 연결하는 KISTI 독자 AI 구조</a:t>
            </a:r>
            <a:endParaRPr lang="en-US" sz="1000" dirty="0"/>
          </a:p>
        </p:txBody>
      </p:sp>
      <p:sp>
        <p:nvSpPr>
          <p:cNvPr id="14" name="FooterNavy"/>
          <p:cNvSpPr/>
          <p:nvPr/>
        </p:nvSpPr>
        <p:spPr>
          <a:xfrm>
            <a:off x="0" y="9537192"/>
            <a:ext cx="2057400" cy="365760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FooterBlue"/>
          <p:cNvSpPr/>
          <p:nvPr/>
        </p:nvSpPr>
        <p:spPr>
          <a:xfrm>
            <a:off x="1645920" y="9537192"/>
            <a:ext cx="2971800" cy="36576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FooterCyan"/>
          <p:cNvSpPr/>
          <p:nvPr/>
        </p:nvSpPr>
        <p:spPr>
          <a:xfrm>
            <a:off x="4224528" y="9537192"/>
            <a:ext cx="2633472" cy="365760"/>
          </a:xfrm>
          <a:prstGeom prst="parallelogram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ooter"/>
          <p:cNvSpPr/>
          <p:nvPr/>
        </p:nvSpPr>
        <p:spPr>
          <a:xfrm>
            <a:off x="274320" y="9610344"/>
            <a:ext cx="1152144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DMT Labs</a:t>
            </a:r>
            <a:endParaRPr lang="en-US" sz="1000" dirty="0"/>
          </a:p>
        </p:txBody>
      </p:sp>
      <p:sp>
        <p:nvSpPr>
          <p:cNvPr id="18" name="PageCode"/>
          <p:cNvSpPr/>
          <p:nvPr/>
        </p:nvSpPr>
        <p:spPr>
          <a:xfrm>
            <a:off x="5925312" y="9592056"/>
            <a:ext cx="5029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Flow__VisionBand"/>
          <p:cNvSpPr/>
          <p:nvPr/>
        </p:nvSpPr>
        <p:spPr>
          <a:xfrm>
            <a:off x="384048" y="1993392"/>
            <a:ext cx="6089904" cy="365760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독자 파운데이션 모델 기반 공공 R&amp;D AI 시스템</a:t>
            </a:r>
            <a:endParaRPr lang="en-US" sz="1200" dirty="0"/>
          </a:p>
        </p:txBody>
      </p:sp>
      <p:sp>
        <p:nvSpPr>
          <p:cNvPr id="20" name="Flow__HierarchyPanel"/>
          <p:cNvSpPr/>
          <p:nvPr/>
        </p:nvSpPr>
        <p:spPr>
          <a:xfrm>
            <a:off x="384048" y="2487168"/>
            <a:ext cx="6089904" cy="3456432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CFDCEC"/>
            </a:solidFill>
            <a:prstDash val="solid"/>
          </a:ln>
        </p:spPr>
      </p:sp>
      <p:sp>
        <p:nvSpPr>
          <p:cNvPr id="21" name="Flow__HierarchyLabel"/>
          <p:cNvSpPr/>
          <p:nvPr/>
        </p:nvSpPr>
        <p:spPr>
          <a:xfrm>
            <a:off x="585216" y="2633472"/>
            <a:ext cx="1417320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5-Layer Architecture</a:t>
            </a:r>
            <a:endParaRPr lang="en-US" sz="1000" dirty="0"/>
          </a:p>
        </p:txBody>
      </p:sp>
      <p:sp>
        <p:nvSpPr>
          <p:cNvPr id="22" name="Flow__Layer1"/>
          <p:cNvSpPr/>
          <p:nvPr/>
        </p:nvSpPr>
        <p:spPr>
          <a:xfrm>
            <a:off x="621792" y="3035808"/>
            <a:ext cx="3419856" cy="4389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431800" tIns="50800" rIns="508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접점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서비스 · 회의 지원</a:t>
            </a:r>
            <a:endParaRPr lang="en-US" sz="1000" dirty="0"/>
          </a:p>
        </p:txBody>
      </p:sp>
      <p:sp>
        <p:nvSpPr>
          <p:cNvPr id="23" name="Flow__Layer1__Badge"/>
          <p:cNvSpPr/>
          <p:nvPr/>
        </p:nvSpPr>
        <p:spPr>
          <a:xfrm>
            <a:off x="685800" y="3099816"/>
            <a:ext cx="310896" cy="3108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24" name="Flow__Layer1__Icon" descr="Flow__Layer1__Ic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088" y="3165104"/>
            <a:ext cx="180320" cy="180320"/>
          </a:xfrm>
          <a:prstGeom prst="rect">
            <a:avLst/>
          </a:prstGeom>
        </p:spPr>
      </p:pic>
      <p:sp>
        <p:nvSpPr>
          <p:cNvPr id="25" name="Flow__Layer2"/>
          <p:cNvSpPr/>
          <p:nvPr/>
        </p:nvSpPr>
        <p:spPr>
          <a:xfrm>
            <a:off x="713232" y="3557016"/>
            <a:ext cx="3328416" cy="438912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431800" tIns="50800" rIns="508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업무 서비스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ETL · Generation · LLM Gateway</a:t>
            </a:r>
            <a:endParaRPr lang="en-US" sz="1000" dirty="0"/>
          </a:p>
        </p:txBody>
      </p:sp>
      <p:sp>
        <p:nvSpPr>
          <p:cNvPr id="26" name="Flow__Layer2__Badge"/>
          <p:cNvSpPr/>
          <p:nvPr/>
        </p:nvSpPr>
        <p:spPr>
          <a:xfrm>
            <a:off x="777240" y="3621024"/>
            <a:ext cx="310896" cy="3108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27" name="Flow__Layer2__Icon" descr="Flow__Layer2__Ico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528" y="3686312"/>
            <a:ext cx="180320" cy="180320"/>
          </a:xfrm>
          <a:prstGeom prst="rect">
            <a:avLst/>
          </a:prstGeom>
        </p:spPr>
      </p:pic>
      <p:sp>
        <p:nvSpPr>
          <p:cNvPr id="28" name="Flow__Layer3"/>
          <p:cNvSpPr/>
          <p:nvPr/>
        </p:nvSpPr>
        <p:spPr>
          <a:xfrm>
            <a:off x="804672" y="4078224"/>
            <a:ext cx="3236976" cy="43891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431800" tIns="50800" rIns="508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지식·문서 처리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DOREA/PDF · HWP/MS Office · STT</a:t>
            </a:r>
            <a:endParaRPr lang="en-US" sz="1000" dirty="0"/>
          </a:p>
        </p:txBody>
      </p:sp>
      <p:sp>
        <p:nvSpPr>
          <p:cNvPr id="29" name="Flow__Layer3__Badge"/>
          <p:cNvSpPr/>
          <p:nvPr/>
        </p:nvSpPr>
        <p:spPr>
          <a:xfrm>
            <a:off x="868680" y="4142232"/>
            <a:ext cx="310896" cy="3108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F766E"/>
            </a:solidFill>
            <a:prstDash val="solid"/>
          </a:ln>
        </p:spPr>
      </p:sp>
      <p:pic>
        <p:nvPicPr>
          <p:cNvPr id="30" name="Flow__Layer3__Icon" descr="Flow__Layer3__Ico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968" y="4207520"/>
            <a:ext cx="180320" cy="180320"/>
          </a:xfrm>
          <a:prstGeom prst="rect">
            <a:avLst/>
          </a:prstGeom>
        </p:spPr>
      </p:pic>
      <p:sp>
        <p:nvSpPr>
          <p:cNvPr id="31" name="Flow__Layer4"/>
          <p:cNvSpPr/>
          <p:nvPr/>
        </p:nvSpPr>
        <p:spPr>
          <a:xfrm>
            <a:off x="896112" y="4599432"/>
            <a:ext cx="3145536" cy="438912"/>
          </a:xfrm>
          <a:prstGeom prst="roundRect">
            <a:avLst/>
          </a:prstGeom>
          <a:solidFill>
            <a:srgbClr val="FFF7E6"/>
          </a:solidFill>
          <a:ln w="11430">
            <a:solidFill>
              <a:srgbClr val="F59E0B"/>
            </a:solidFill>
          </a:ln>
        </p:spPr>
        <p:txBody>
          <a:bodyPr wrap="square" lIns="431800" tIns="50800" rIns="508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· MinIO · Milvus · Kafka · Redis</a:t>
            </a:r>
            <a:endParaRPr lang="en-US" sz="1000" dirty="0"/>
          </a:p>
        </p:txBody>
      </p:sp>
      <p:sp>
        <p:nvSpPr>
          <p:cNvPr id="32" name="Flow__Layer4__Badge"/>
          <p:cNvSpPr/>
          <p:nvPr/>
        </p:nvSpPr>
        <p:spPr>
          <a:xfrm>
            <a:off x="960120" y="4663440"/>
            <a:ext cx="310896" cy="3108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33" name="Flow__Layer4__Icon" descr="Flow__Layer4__Icon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408" y="4728728"/>
            <a:ext cx="180320" cy="180320"/>
          </a:xfrm>
          <a:prstGeom prst="rect">
            <a:avLst/>
          </a:prstGeom>
        </p:spPr>
      </p:pic>
      <p:sp>
        <p:nvSpPr>
          <p:cNvPr id="34" name="Flow__Layer5"/>
          <p:cNvSpPr/>
          <p:nvPr/>
        </p:nvSpPr>
        <p:spPr>
          <a:xfrm>
            <a:off x="987552" y="5120640"/>
            <a:ext cx="3054096" cy="4389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0B2E5B"/>
            </a:solidFill>
          </a:ln>
        </p:spPr>
        <p:txBody>
          <a:bodyPr wrap="square" lIns="431800" tIns="50800" rIns="508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운영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· WAS · GPU · DB · DOREA · IRIS</a:t>
            </a:r>
            <a:endParaRPr lang="en-US" sz="1000" dirty="0"/>
          </a:p>
        </p:txBody>
      </p:sp>
      <p:sp>
        <p:nvSpPr>
          <p:cNvPr id="35" name="Flow__Layer5__Badge"/>
          <p:cNvSpPr/>
          <p:nvPr/>
        </p:nvSpPr>
        <p:spPr>
          <a:xfrm>
            <a:off x="1051560" y="5184648"/>
            <a:ext cx="310896" cy="3108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B2E5B"/>
            </a:solidFill>
            <a:prstDash val="solid"/>
          </a:ln>
        </p:spPr>
      </p:sp>
      <p:pic>
        <p:nvPicPr>
          <p:cNvPr id="36" name="Flow__Layer5__Icon" descr="Flow__Layer5__Icon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6848" y="5249936"/>
            <a:ext cx="180320" cy="180320"/>
          </a:xfrm>
          <a:prstGeom prst="rect">
            <a:avLst/>
          </a:prstGeom>
        </p:spPr>
      </p:pic>
      <p:sp>
        <p:nvSpPr>
          <p:cNvPr id="37" name="Support__ControlPanel"/>
          <p:cNvSpPr/>
          <p:nvPr/>
        </p:nvSpPr>
        <p:spPr>
          <a:xfrm>
            <a:off x="4315968" y="2834640"/>
            <a:ext cx="1920240" cy="2779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upport__ControlTitle"/>
          <p:cNvSpPr/>
          <p:nvPr/>
        </p:nvSpPr>
        <p:spPr>
          <a:xfrm>
            <a:off x="4480560" y="2999232"/>
            <a:ext cx="1591056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통제 Spine</a:t>
            </a:r>
            <a:endParaRPr lang="en-US" sz="1000" dirty="0"/>
          </a:p>
        </p:txBody>
      </p:sp>
      <p:sp>
        <p:nvSpPr>
          <p:cNvPr id="39" name="Support__Control1"/>
          <p:cNvSpPr/>
          <p:nvPr/>
        </p:nvSpPr>
        <p:spPr>
          <a:xfrm>
            <a:off x="4526280" y="3447288"/>
            <a:ext cx="1499616" cy="39319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· REST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연결</a:t>
            </a:r>
            <a:endParaRPr lang="en-US" sz="1000" dirty="0"/>
          </a:p>
        </p:txBody>
      </p:sp>
      <p:sp>
        <p:nvSpPr>
          <p:cNvPr id="40" name="Support__Control2"/>
          <p:cNvSpPr/>
          <p:nvPr/>
        </p:nvSpPr>
        <p:spPr>
          <a:xfrm>
            <a:off x="4526280" y="3950208"/>
            <a:ext cx="1499616" cy="393192"/>
          </a:xfrm>
          <a:prstGeom prst="roundRect">
            <a:avLst/>
          </a:prstGeom>
          <a:solidFill>
            <a:srgbClr val="E9F9FC"/>
          </a:solidFill>
          <a:ln w="8890">
            <a:solidFill>
              <a:srgbClr val="17B7D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Job ID · Trace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추적</a:t>
            </a:r>
            <a:endParaRPr lang="en-US" sz="1000" dirty="0"/>
          </a:p>
        </p:txBody>
      </p:sp>
      <p:sp>
        <p:nvSpPr>
          <p:cNvPr id="41" name="Support__Control3"/>
          <p:cNvSpPr/>
          <p:nvPr/>
        </p:nvSpPr>
        <p:spPr>
          <a:xfrm>
            <a:off x="4526280" y="4453128"/>
            <a:ext cx="1499616" cy="39319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· 감사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 통제</a:t>
            </a:r>
            <a:endParaRPr lang="en-US" sz="1000" dirty="0"/>
          </a:p>
        </p:txBody>
      </p:sp>
      <p:sp>
        <p:nvSpPr>
          <p:cNvPr id="42" name="Support__Control4"/>
          <p:cNvSpPr/>
          <p:nvPr/>
        </p:nvSpPr>
        <p:spPr>
          <a:xfrm>
            <a:off x="4526280" y="4956048"/>
            <a:ext cx="1499616" cy="393192"/>
          </a:xfrm>
          <a:prstGeom prst="roundRect">
            <a:avLst/>
          </a:prstGeom>
          <a:solidFill>
            <a:srgbClr val="E9F9FC"/>
          </a:solidFill>
          <a:ln w="8890">
            <a:solidFill>
              <a:srgbClr val="17B7D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 · 배포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일관성</a:t>
            </a:r>
            <a:endParaRPr lang="en-US" sz="1000" dirty="0"/>
          </a:p>
        </p:txBody>
      </p:sp>
      <p:sp>
        <p:nvSpPr>
          <p:cNvPr id="43" name="Support__SpineLine"/>
          <p:cNvSpPr/>
          <p:nvPr/>
        </p:nvSpPr>
        <p:spPr>
          <a:xfrm>
            <a:off x="4151376" y="3127248"/>
            <a:ext cx="0" cy="2212848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44" name="Support__LayerLink1"/>
          <p:cNvSpPr/>
          <p:nvPr/>
        </p:nvSpPr>
        <p:spPr>
          <a:xfrm>
            <a:off x="3858768" y="3255264"/>
            <a:ext cx="283464" cy="0"/>
          </a:xfrm>
          <a:prstGeom prst="line">
            <a:avLst/>
          </a:prstGeom>
          <a:noFill/>
          <a:ln w="15240">
            <a:solidFill>
              <a:srgbClr val="CFDCEC"/>
            </a:solidFill>
            <a:prstDash val="solid"/>
            <a:headEnd type="none"/>
            <a:tailEnd type="triangle"/>
          </a:ln>
        </p:spPr>
      </p:sp>
      <p:sp>
        <p:nvSpPr>
          <p:cNvPr id="45" name="Support__LayerLink2"/>
          <p:cNvSpPr/>
          <p:nvPr/>
        </p:nvSpPr>
        <p:spPr>
          <a:xfrm>
            <a:off x="3767328" y="3776472"/>
            <a:ext cx="374904" cy="0"/>
          </a:xfrm>
          <a:prstGeom prst="line">
            <a:avLst/>
          </a:prstGeom>
          <a:noFill/>
          <a:ln w="15240">
            <a:solidFill>
              <a:srgbClr val="CFDCEC"/>
            </a:solidFill>
            <a:prstDash val="solid"/>
            <a:headEnd type="none"/>
            <a:tailEnd type="triangle"/>
          </a:ln>
        </p:spPr>
      </p:sp>
      <p:sp>
        <p:nvSpPr>
          <p:cNvPr id="46" name="Support__LayerLink3"/>
          <p:cNvSpPr/>
          <p:nvPr/>
        </p:nvSpPr>
        <p:spPr>
          <a:xfrm>
            <a:off x="3675888" y="4297680"/>
            <a:ext cx="466344" cy="0"/>
          </a:xfrm>
          <a:prstGeom prst="line">
            <a:avLst/>
          </a:prstGeom>
          <a:noFill/>
          <a:ln w="15240">
            <a:solidFill>
              <a:srgbClr val="CFDCEC"/>
            </a:solidFill>
            <a:prstDash val="solid"/>
            <a:headEnd type="none"/>
            <a:tailEnd type="triangle"/>
          </a:ln>
        </p:spPr>
      </p:sp>
      <p:sp>
        <p:nvSpPr>
          <p:cNvPr id="47" name="Support__LayerLink4"/>
          <p:cNvSpPr/>
          <p:nvPr/>
        </p:nvSpPr>
        <p:spPr>
          <a:xfrm>
            <a:off x="3584448" y="4818888"/>
            <a:ext cx="557784" cy="0"/>
          </a:xfrm>
          <a:prstGeom prst="line">
            <a:avLst/>
          </a:prstGeom>
          <a:noFill/>
          <a:ln w="15240">
            <a:solidFill>
              <a:srgbClr val="CFDCEC"/>
            </a:solidFill>
            <a:prstDash val="solid"/>
            <a:headEnd type="none"/>
            <a:tailEnd type="triangle"/>
          </a:ln>
        </p:spPr>
      </p:sp>
      <p:sp>
        <p:nvSpPr>
          <p:cNvPr id="48" name="Support__LayerLink5"/>
          <p:cNvSpPr/>
          <p:nvPr/>
        </p:nvSpPr>
        <p:spPr>
          <a:xfrm>
            <a:off x="3493008" y="5340096"/>
            <a:ext cx="649224" cy="0"/>
          </a:xfrm>
          <a:prstGeom prst="line">
            <a:avLst/>
          </a:prstGeom>
          <a:noFill/>
          <a:ln w="15240">
            <a:solidFill>
              <a:srgbClr val="CFDCEC"/>
            </a:solidFill>
            <a:prstDash val="solid"/>
            <a:headEnd type="none"/>
            <a:tailEnd type="triangle"/>
          </a:ln>
        </p:spPr>
      </p:sp>
      <p:sp>
        <p:nvSpPr>
          <p:cNvPr id="49" name="Cards__Capability1"/>
          <p:cNvSpPr/>
          <p:nvPr/>
        </p:nvSpPr>
        <p:spPr>
          <a:xfrm>
            <a:off x="384048" y="6144768"/>
            <a:ext cx="1975104" cy="199339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139700" tIns="114300" rIns="152400" bIns="609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서비스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사전컨설팅·심의·조정안 작성 흐름을 사용자 관점으로 통합</a:t>
            </a:r>
            <a:endParaRPr lang="en-US" sz="1000" dirty="0"/>
          </a:p>
        </p:txBody>
      </p:sp>
      <p:sp>
        <p:nvSpPr>
          <p:cNvPr id="50" name="Cards__Capability1__Badge"/>
          <p:cNvSpPr/>
          <p:nvPr/>
        </p:nvSpPr>
        <p:spPr>
          <a:xfrm>
            <a:off x="1691640" y="6309360"/>
            <a:ext cx="493776" cy="49377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51" name="Cards__Capability1__Icon" descr="Cards__Capability1__Ico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95333" y="6413053"/>
            <a:ext cx="286390" cy="286390"/>
          </a:xfrm>
          <a:prstGeom prst="rect">
            <a:avLst/>
          </a:prstGeom>
        </p:spPr>
      </p:pic>
      <p:sp>
        <p:nvSpPr>
          <p:cNvPr id="52" name="Cards__Capability2"/>
          <p:cNvSpPr/>
          <p:nvPr/>
        </p:nvSpPr>
        <p:spPr>
          <a:xfrm>
            <a:off x="2441448" y="6144768"/>
            <a:ext cx="1975104" cy="1993392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139700" tIns="114300" rIns="152400" bIns="609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오케스트레이션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문서·회의·검색·생성을 역할별 서비스로 분리하고 유연하게 확장</a:t>
            </a:r>
            <a:endParaRPr lang="en-US" sz="1000" dirty="0"/>
          </a:p>
        </p:txBody>
      </p:sp>
      <p:sp>
        <p:nvSpPr>
          <p:cNvPr id="53" name="Cards__Capability2__Badge"/>
          <p:cNvSpPr/>
          <p:nvPr/>
        </p:nvSpPr>
        <p:spPr>
          <a:xfrm>
            <a:off x="3749040" y="6309360"/>
            <a:ext cx="493776" cy="49377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54" name="Cards__Capability2__Icon" descr="Cards__Capability2__Ico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733" y="6413053"/>
            <a:ext cx="286390" cy="286390"/>
          </a:xfrm>
          <a:prstGeom prst="rect">
            <a:avLst/>
          </a:prstGeom>
        </p:spPr>
      </p:pic>
      <p:sp>
        <p:nvSpPr>
          <p:cNvPr id="55" name="Cards__Capability3"/>
          <p:cNvSpPr/>
          <p:nvPr/>
        </p:nvSpPr>
        <p:spPr>
          <a:xfrm>
            <a:off x="4498848" y="6144768"/>
            <a:ext cx="1975104" cy="199339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139700" tIns="114300" rIns="152400" bIns="609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인프라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DOREA·IRIS·GPU·DB 자원을 데이터·보안 정책 안에서 안정 운영</a:t>
            </a:r>
            <a:endParaRPr lang="en-US" sz="1000" dirty="0"/>
          </a:p>
        </p:txBody>
      </p:sp>
      <p:sp>
        <p:nvSpPr>
          <p:cNvPr id="56" name="Cards__Capability3__Badge"/>
          <p:cNvSpPr/>
          <p:nvPr/>
        </p:nvSpPr>
        <p:spPr>
          <a:xfrm>
            <a:off x="5806440" y="6309360"/>
            <a:ext cx="493776" cy="49377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F766E"/>
            </a:solidFill>
            <a:prstDash val="solid"/>
          </a:ln>
        </p:spPr>
      </p:sp>
      <p:pic>
        <p:nvPicPr>
          <p:cNvPr id="57" name="Cards__Capability3__Icon" descr="Cards__Capability3__Icon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10133" y="6413053"/>
            <a:ext cx="286390" cy="286390"/>
          </a:xfrm>
          <a:prstGeom prst="rect">
            <a:avLst/>
          </a:prstGeom>
        </p:spPr>
      </p:pic>
      <p:sp>
        <p:nvSpPr>
          <p:cNvPr id="58" name="Message__Label"/>
          <p:cNvSpPr/>
          <p:nvPr/>
        </p:nvSpPr>
        <p:spPr>
          <a:xfrm>
            <a:off x="384048" y="8467344"/>
            <a:ext cx="1024128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59" name="Message__Band"/>
          <p:cNvSpPr/>
          <p:nvPr/>
        </p:nvSpPr>
        <p:spPr>
          <a:xfrm>
            <a:off x="384048" y="8778240"/>
            <a:ext cx="6089904" cy="56692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책임은 분리하되 Job ID·Trace·권한·감사정보는 전 계층에서 일관되게 연결합니다.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DMT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목표시스템 구성도 및 구성체계</dc:title>
  <dc:subject>2026 KISTI 독자 파운데이션 모델 기반 공공 R&amp;D AI 시스템 개발</dc:subject>
  <dc:creator>DMT Labs</dc:creator>
  <cp:lastModifiedBy>DMT Labs</cp:lastModifiedBy>
  <cp:revision>1</cp:revision>
  <dcterms:created xsi:type="dcterms:W3CDTF">2026-07-18T12:50:57Z</dcterms:created>
  <dcterms:modified xsi:type="dcterms:W3CDTF">2026-07-18T12:50:57Z</dcterms:modified>
</cp:coreProperties>
</file>