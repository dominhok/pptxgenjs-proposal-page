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905970"/>
  <p:notesSz cx="990597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17B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hapterBlock"/>
          <p:cNvSpPr/>
          <p:nvPr/>
        </p:nvSpPr>
        <p:spPr>
          <a:xfrm>
            <a:off x="0" y="164592"/>
            <a:ext cx="1133856" cy="658368"/>
          </a:xfrm>
          <a:prstGeom prst="parallelogram">
            <a:avLst/>
          </a:prstGeom>
          <a:solidFill>
            <a:srgbClr val="0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ectionRibbon"/>
          <p:cNvSpPr/>
          <p:nvPr/>
        </p:nvSpPr>
        <p:spPr>
          <a:xfrm>
            <a:off x="987552" y="164592"/>
            <a:ext cx="4187952" cy="658368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ChapterLabel"/>
          <p:cNvSpPr/>
          <p:nvPr/>
        </p:nvSpPr>
        <p:spPr>
          <a:xfrm>
            <a:off x="91440" y="256032"/>
            <a:ext cx="420624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CH.</a:t>
            </a:r>
            <a:endParaRPr lang="en-US" sz="1000" dirty="0"/>
          </a:p>
        </p:txBody>
      </p:sp>
      <p:sp>
        <p:nvSpPr>
          <p:cNvPr id="6" name="SectionCode"/>
          <p:cNvSpPr/>
          <p:nvPr/>
        </p:nvSpPr>
        <p:spPr>
          <a:xfrm>
            <a:off x="91440" y="438912"/>
            <a:ext cx="731520" cy="28346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SectionTitle"/>
          <p:cNvSpPr/>
          <p:nvPr/>
        </p:nvSpPr>
        <p:spPr>
          <a:xfrm>
            <a:off x="1298448" y="329184"/>
            <a:ext cx="3401568" cy="3108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제안개요 · 업무이해</a:t>
            </a:r>
            <a:endParaRPr lang="en-US" sz="1400" dirty="0"/>
          </a:p>
        </p:txBody>
      </p:sp>
      <p:sp>
        <p:nvSpPr>
          <p:cNvPr id="8" name="KistiMark"/>
          <p:cNvSpPr/>
          <p:nvPr/>
        </p:nvSpPr>
        <p:spPr>
          <a:xfrm>
            <a:off x="5715000" y="274320"/>
            <a:ext cx="713232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</a:t>
            </a:r>
            <a:endParaRPr lang="en-US" sz="1400" dirty="0"/>
          </a:p>
        </p:txBody>
      </p:sp>
      <p:sp>
        <p:nvSpPr>
          <p:cNvPr id="9" name="ProjectRibbon"/>
          <p:cNvSpPr/>
          <p:nvPr/>
        </p:nvSpPr>
        <p:spPr>
          <a:xfrm>
            <a:off x="3364992" y="914400"/>
            <a:ext cx="3493008" cy="228600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ProjectName"/>
          <p:cNvSpPr/>
          <p:nvPr/>
        </p:nvSpPr>
        <p:spPr>
          <a:xfrm>
            <a:off x="3657600" y="914400"/>
            <a:ext cx="290779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 공공 R&amp;D AI 시스템 개발</a:t>
            </a:r>
            <a:endParaRPr lang="en-US" sz="1000" dirty="0"/>
          </a:p>
        </p:txBody>
      </p:sp>
      <p:sp>
        <p:nvSpPr>
          <p:cNvPr id="11" name="TitleAccent"/>
          <p:cNvSpPr/>
          <p:nvPr/>
        </p:nvSpPr>
        <p:spPr>
          <a:xfrm>
            <a:off x="365760" y="1271016"/>
            <a:ext cx="640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itle"/>
          <p:cNvSpPr/>
          <p:nvPr/>
        </p:nvSpPr>
        <p:spPr>
          <a:xfrm>
            <a:off x="512064" y="1225296"/>
            <a:ext cx="589788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예산심의 업무 프로세스와 AI 적용범위</a:t>
            </a:r>
            <a:endParaRPr lang="en-US" sz="2000" dirty="0"/>
          </a:p>
        </p:txBody>
      </p:sp>
      <p:sp>
        <p:nvSpPr>
          <p:cNvPr id="13" name="Subtitle"/>
          <p:cNvSpPr/>
          <p:nvPr/>
        </p:nvSpPr>
        <p:spPr>
          <a:xfrm>
            <a:off x="521208" y="1673352"/>
            <a:ext cx="5806440" cy="24688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사전컨설팅부터 조정안 작성까지 단계별 AI 지원과 전문가 검토를 연결하는 누적형 업무 흐름</a:t>
            </a:r>
            <a:endParaRPr lang="en-US" sz="1000" dirty="0"/>
          </a:p>
        </p:txBody>
      </p:sp>
      <p:sp>
        <p:nvSpPr>
          <p:cNvPr id="14" name="FooterNavy"/>
          <p:cNvSpPr/>
          <p:nvPr/>
        </p:nvSpPr>
        <p:spPr>
          <a:xfrm>
            <a:off x="0" y="9537192"/>
            <a:ext cx="2057400" cy="365760"/>
          </a:xfrm>
          <a:prstGeom prst="parallelogram">
            <a:avLst/>
          </a:prstGeom>
          <a:solidFill>
            <a:srgbClr val="0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FooterBlue"/>
          <p:cNvSpPr/>
          <p:nvPr/>
        </p:nvSpPr>
        <p:spPr>
          <a:xfrm>
            <a:off x="1645920" y="9537192"/>
            <a:ext cx="2971800" cy="365760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FooterCyan"/>
          <p:cNvSpPr/>
          <p:nvPr/>
        </p:nvSpPr>
        <p:spPr>
          <a:xfrm>
            <a:off x="4224528" y="9537192"/>
            <a:ext cx="2633472" cy="365760"/>
          </a:xfrm>
          <a:prstGeom prst="parallelogram">
            <a:avLst/>
          </a:prstGeom>
          <a:solidFill>
            <a:srgbClr val="17B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Footer"/>
          <p:cNvSpPr/>
          <p:nvPr/>
        </p:nvSpPr>
        <p:spPr>
          <a:xfrm>
            <a:off x="274320" y="9610344"/>
            <a:ext cx="1152144" cy="1645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DMT Labs</a:t>
            </a:r>
            <a:endParaRPr lang="en-US" sz="1000" dirty="0"/>
          </a:p>
        </p:txBody>
      </p:sp>
      <p:sp>
        <p:nvSpPr>
          <p:cNvPr id="18" name="PageCode"/>
          <p:cNvSpPr/>
          <p:nvPr/>
        </p:nvSpPr>
        <p:spPr>
          <a:xfrm>
            <a:off x="5925312" y="9592056"/>
            <a:ext cx="50292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Flow__PipelineLabel"/>
          <p:cNvSpPr/>
          <p:nvPr/>
        </p:nvSpPr>
        <p:spPr>
          <a:xfrm>
            <a:off x="384048" y="1993392"/>
            <a:ext cx="1719072" cy="274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C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End-to-End Review Pipeline</a:t>
            </a:r>
            <a:endParaRPr lang="en-US" sz="1000" dirty="0"/>
          </a:p>
        </p:txBody>
      </p:sp>
      <p:sp>
        <p:nvSpPr>
          <p:cNvPr id="20" name="Flow__SourcePanel"/>
          <p:cNvSpPr/>
          <p:nvPr/>
        </p:nvSpPr>
        <p:spPr>
          <a:xfrm>
            <a:off x="384048" y="2359152"/>
            <a:ext cx="1005840" cy="1078992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CFDCEC"/>
            </a:solidFill>
            <a:prstDash val="solid"/>
          </a:ln>
        </p:spPr>
      </p:sp>
      <p:sp>
        <p:nvSpPr>
          <p:cNvPr id="21" name="Flow__SourceDocs__Badge"/>
          <p:cNvSpPr/>
          <p:nvPr/>
        </p:nvSpPr>
        <p:spPr>
          <a:xfrm>
            <a:off x="512064" y="2514600"/>
            <a:ext cx="329184" cy="3291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pic>
        <p:nvPicPr>
          <p:cNvPr id="22" name="Flow__SourceDocs__Icon" descr="Flow__SourceDocs__Ico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193" y="2583729"/>
            <a:ext cx="190927" cy="190927"/>
          </a:xfrm>
          <a:prstGeom prst="rect">
            <a:avLst/>
          </a:prstGeom>
        </p:spPr>
      </p:pic>
      <p:sp>
        <p:nvSpPr>
          <p:cNvPr id="23" name="Flow__SourceMeeting__Badge"/>
          <p:cNvSpPr/>
          <p:nvPr/>
        </p:nvSpPr>
        <p:spPr>
          <a:xfrm>
            <a:off x="914400" y="2514600"/>
            <a:ext cx="329184" cy="3291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F766E"/>
            </a:solidFill>
            <a:prstDash val="solid"/>
          </a:ln>
        </p:spPr>
      </p:sp>
      <p:pic>
        <p:nvPicPr>
          <p:cNvPr id="24" name="Flow__SourceMeeting__Icon" descr="Flow__SourceMeeting__Icon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3529" y="2583729"/>
            <a:ext cx="190927" cy="190927"/>
          </a:xfrm>
          <a:prstGeom prst="rect">
            <a:avLst/>
          </a:prstGeom>
        </p:spPr>
      </p:pic>
      <p:sp>
        <p:nvSpPr>
          <p:cNvPr id="25" name="Flow__SourceText"/>
          <p:cNvSpPr/>
          <p:nvPr/>
        </p:nvSpPr>
        <p:spPr>
          <a:xfrm>
            <a:off x="475488" y="2962656"/>
            <a:ext cx="82296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사업자료 + 회의기록</a:t>
            </a:r>
            <a:endParaRPr lang="en-US" sz="1000" dirty="0"/>
          </a:p>
        </p:txBody>
      </p:sp>
      <p:sp>
        <p:nvSpPr>
          <p:cNvPr id="26" name="Flow__Stage1"/>
          <p:cNvSpPr/>
          <p:nvPr/>
        </p:nvSpPr>
        <p:spPr>
          <a:xfrm>
            <a:off x="1572768" y="2459736"/>
            <a:ext cx="813816" cy="786384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2563E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컨설팅</a:t>
            </a:r>
            <a:endParaRPr lang="en-US" sz="1000" dirty="0"/>
          </a:p>
        </p:txBody>
      </p:sp>
      <p:pic>
        <p:nvPicPr>
          <p:cNvPr id="27" name="Flow__StageNo1" descr="Flow__StageNo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6776" y="2350008"/>
            <a:ext cx="274320" cy="274320"/>
          </a:xfrm>
          <a:prstGeom prst="rect">
            <a:avLst/>
          </a:prstGeom>
        </p:spPr>
      </p:pic>
      <p:sp>
        <p:nvSpPr>
          <p:cNvPr id="28" name="Flow__Arrow1"/>
          <p:cNvSpPr/>
          <p:nvPr/>
        </p:nvSpPr>
        <p:spPr>
          <a:xfrm>
            <a:off x="2395728" y="2779776"/>
            <a:ext cx="128016" cy="10972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Flow__Stage2"/>
          <p:cNvSpPr/>
          <p:nvPr/>
        </p:nvSpPr>
        <p:spPr>
          <a:xfrm>
            <a:off x="2551176" y="2459736"/>
            <a:ext cx="813816" cy="786384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설명회</a:t>
            </a:r>
            <a:endParaRPr lang="en-US" sz="1000" dirty="0"/>
          </a:p>
        </p:txBody>
      </p:sp>
      <p:pic>
        <p:nvPicPr>
          <p:cNvPr id="30" name="Flow__StageNo2" descr="Flow__StageNo2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15184" y="2350008"/>
            <a:ext cx="274320" cy="274320"/>
          </a:xfrm>
          <a:prstGeom prst="rect">
            <a:avLst/>
          </a:prstGeom>
        </p:spPr>
      </p:pic>
      <p:sp>
        <p:nvSpPr>
          <p:cNvPr id="31" name="Flow__Arrow2"/>
          <p:cNvSpPr/>
          <p:nvPr/>
        </p:nvSpPr>
        <p:spPr>
          <a:xfrm>
            <a:off x="3374136" y="2779776"/>
            <a:ext cx="128016" cy="10972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Flow__Stage3"/>
          <p:cNvSpPr/>
          <p:nvPr/>
        </p:nvSpPr>
        <p:spPr>
          <a:xfrm>
            <a:off x="3529584" y="2459736"/>
            <a:ext cx="813816" cy="786384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7C3AE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전문위원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</a:t>
            </a:r>
            <a:endParaRPr lang="en-US" sz="1000" dirty="0"/>
          </a:p>
        </p:txBody>
      </p:sp>
      <p:pic>
        <p:nvPicPr>
          <p:cNvPr id="33" name="Flow__StageNo3" descr="Flow__StageNo3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93592" y="2350008"/>
            <a:ext cx="274320" cy="274320"/>
          </a:xfrm>
          <a:prstGeom prst="rect">
            <a:avLst/>
          </a:prstGeom>
        </p:spPr>
      </p:pic>
      <p:sp>
        <p:nvSpPr>
          <p:cNvPr id="34" name="Flow__Arrow3"/>
          <p:cNvSpPr/>
          <p:nvPr/>
        </p:nvSpPr>
        <p:spPr>
          <a:xfrm>
            <a:off x="4352544" y="2779776"/>
            <a:ext cx="128016" cy="10972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Flow__Stage4"/>
          <p:cNvSpPr/>
          <p:nvPr/>
        </p:nvSpPr>
        <p:spPr>
          <a:xfrm>
            <a:off x="4507992" y="2459736"/>
            <a:ext cx="813816" cy="786384"/>
          </a:xfrm>
          <a:prstGeom prst="roundRect">
            <a:avLst/>
          </a:prstGeom>
          <a:solidFill>
            <a:srgbClr val="FFF7E6"/>
          </a:solidFill>
          <a:ln w="11430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심의서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</a:t>
            </a:r>
            <a:endParaRPr lang="en-US" sz="1000" dirty="0"/>
          </a:p>
        </p:txBody>
      </p:sp>
      <p:pic>
        <p:nvPicPr>
          <p:cNvPr id="36" name="Flow__StageNo4" descr="Flow__StageNo4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0" y="2350008"/>
            <a:ext cx="274320" cy="274320"/>
          </a:xfrm>
          <a:prstGeom prst="rect">
            <a:avLst/>
          </a:prstGeom>
        </p:spPr>
      </p:pic>
      <p:sp>
        <p:nvSpPr>
          <p:cNvPr id="37" name="Flow__Arrow4"/>
          <p:cNvSpPr/>
          <p:nvPr/>
        </p:nvSpPr>
        <p:spPr>
          <a:xfrm>
            <a:off x="5330952" y="2779776"/>
            <a:ext cx="128016" cy="10972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Flow__Stage5"/>
          <p:cNvSpPr/>
          <p:nvPr/>
        </p:nvSpPr>
        <p:spPr>
          <a:xfrm>
            <a:off x="5486400" y="2459736"/>
            <a:ext cx="813816" cy="786384"/>
          </a:xfrm>
          <a:prstGeom prst="roundRect">
            <a:avLst/>
          </a:prstGeom>
          <a:solidFill>
            <a:srgbClr val="ECFDF3"/>
          </a:solidFill>
          <a:ln w="11430">
            <a:solidFill>
              <a:srgbClr val="16A34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조정안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</a:t>
            </a:r>
            <a:endParaRPr lang="en-US" sz="1000" dirty="0"/>
          </a:p>
        </p:txBody>
      </p:sp>
      <p:pic>
        <p:nvPicPr>
          <p:cNvPr id="39" name="Flow__StageNo5" descr="Flow__StageNo5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50408" y="2350008"/>
            <a:ext cx="274320" cy="274320"/>
          </a:xfrm>
          <a:prstGeom prst="rect">
            <a:avLst/>
          </a:prstGeom>
        </p:spPr>
      </p:pic>
      <p:sp>
        <p:nvSpPr>
          <p:cNvPr id="40" name="Flow__HumanAIBar"/>
          <p:cNvSpPr/>
          <p:nvPr/>
        </p:nvSpPr>
        <p:spPr>
          <a:xfrm>
            <a:off x="384048" y="3584448"/>
            <a:ext cx="6089904" cy="429768"/>
          </a:xfrm>
          <a:prstGeom prst="roundRect">
            <a:avLst/>
          </a:prstGeom>
          <a:solidFill>
            <a:srgbClr val="0B2E5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초안·요약·근거 탐색  +  전문가 판단·승인</a:t>
            </a:r>
            <a:endParaRPr lang="en-US" sz="1200" dirty="0"/>
          </a:p>
        </p:txBody>
      </p:sp>
      <p:sp>
        <p:nvSpPr>
          <p:cNvPr id="41" name="Cards__Scope1"/>
          <p:cNvSpPr/>
          <p:nvPr/>
        </p:nvSpPr>
        <p:spPr>
          <a:xfrm>
            <a:off x="384048" y="4251960"/>
            <a:ext cx="2971800" cy="1417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2563EB"/>
            </a:solidFill>
          </a:ln>
        </p:spPr>
        <p:txBody>
          <a:bodyPr wrap="square" lIns="635000" tIns="101600" rIns="127000" bIns="1270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· 사전컨설팅/설명회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수집·질의 구조화·회의기록 정리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FUR-003~020</a:t>
            </a:r>
            <a:endParaRPr lang="en-US" sz="1000" dirty="0"/>
          </a:p>
        </p:txBody>
      </p:sp>
      <p:sp>
        <p:nvSpPr>
          <p:cNvPr id="42" name="Cards__Scope1__Badge"/>
          <p:cNvSpPr/>
          <p:nvPr/>
        </p:nvSpPr>
        <p:spPr>
          <a:xfrm>
            <a:off x="512064" y="4709160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pic>
        <p:nvPicPr>
          <p:cNvPr id="43" name="Cards__Scope1__Icon" descr="Cards__Scope1__Icon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8076" y="4805172"/>
            <a:ext cx="265176" cy="265176"/>
          </a:xfrm>
          <a:prstGeom prst="rect">
            <a:avLst/>
          </a:prstGeom>
        </p:spPr>
      </p:pic>
      <p:sp>
        <p:nvSpPr>
          <p:cNvPr id="44" name="Cards__Scope2"/>
          <p:cNvSpPr/>
          <p:nvPr/>
        </p:nvSpPr>
        <p:spPr>
          <a:xfrm>
            <a:off x="3502152" y="4251960"/>
            <a:ext cx="2971800" cy="1417320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7C3AED"/>
            </a:solidFill>
          </a:ln>
        </p:spPr>
        <p:txBody>
          <a:bodyPr wrap="square" lIns="635000" tIns="101600" rIns="127000" bIns="1270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· 전문위원 지원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쟁점·근거 탐색·질의응답 지원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FUR-021~023</a:t>
            </a:r>
            <a:endParaRPr lang="en-US" sz="1000" dirty="0"/>
          </a:p>
        </p:txBody>
      </p:sp>
      <p:sp>
        <p:nvSpPr>
          <p:cNvPr id="45" name="Cards__Scope2__Badge"/>
          <p:cNvSpPr/>
          <p:nvPr/>
        </p:nvSpPr>
        <p:spPr>
          <a:xfrm>
            <a:off x="3630168" y="4709160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pic>
        <p:nvPicPr>
          <p:cNvPr id="46" name="Cards__Scope2__Icon" descr="Cards__Scope2__Icon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726180" y="4805172"/>
            <a:ext cx="265176" cy="265176"/>
          </a:xfrm>
          <a:prstGeom prst="rect">
            <a:avLst/>
          </a:prstGeom>
        </p:spPr>
      </p:pic>
      <p:sp>
        <p:nvSpPr>
          <p:cNvPr id="47" name="Cards__Scope3"/>
          <p:cNvSpPr/>
          <p:nvPr/>
        </p:nvSpPr>
        <p:spPr>
          <a:xfrm>
            <a:off x="384048" y="5897880"/>
            <a:ext cx="2971800" cy="1417320"/>
          </a:xfrm>
          <a:prstGeom prst="roundRect">
            <a:avLst/>
          </a:prstGeom>
          <a:solidFill>
            <a:srgbClr val="FFF7E6"/>
          </a:solidFill>
          <a:ln w="11430">
            <a:solidFill>
              <a:srgbClr val="F59E0B"/>
            </a:solidFill>
          </a:ln>
        </p:spPr>
        <p:txBody>
          <a:bodyPr wrap="square" lIns="635000" tIns="101600" rIns="127000" bIns="1270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 · 심의서 초안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검토결과를 활용한 심의서 작성 지원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FUR-024~025</a:t>
            </a:r>
            <a:endParaRPr lang="en-US" sz="1000" dirty="0"/>
          </a:p>
        </p:txBody>
      </p:sp>
      <p:sp>
        <p:nvSpPr>
          <p:cNvPr id="48" name="Cards__Scope3__Badge"/>
          <p:cNvSpPr/>
          <p:nvPr/>
        </p:nvSpPr>
        <p:spPr>
          <a:xfrm>
            <a:off x="512064" y="6355080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</p:spPr>
      </p:sp>
      <p:pic>
        <p:nvPicPr>
          <p:cNvPr id="49" name="Cards__Scope3__Icon" descr="Cards__Scope3__Icon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08076" y="6451092"/>
            <a:ext cx="265176" cy="265176"/>
          </a:xfrm>
          <a:prstGeom prst="rect">
            <a:avLst/>
          </a:prstGeom>
        </p:spPr>
      </p:pic>
      <p:sp>
        <p:nvSpPr>
          <p:cNvPr id="50" name="Cards__Scope4"/>
          <p:cNvSpPr/>
          <p:nvPr/>
        </p:nvSpPr>
        <p:spPr>
          <a:xfrm>
            <a:off x="3502152" y="5897880"/>
            <a:ext cx="2971800" cy="1417320"/>
          </a:xfrm>
          <a:prstGeom prst="roundRect">
            <a:avLst/>
          </a:prstGeom>
          <a:solidFill>
            <a:srgbClr val="ECFDF3"/>
          </a:solidFill>
          <a:ln w="11430">
            <a:solidFill>
              <a:srgbClr val="16A34A"/>
            </a:solidFill>
          </a:ln>
        </p:spPr>
        <p:txBody>
          <a:bodyPr wrap="square" lIns="635000" tIns="101600" rIns="127000" bIns="1270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조정 · 조정안 완성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심의 결과와 근거를 반영한 조정안 작성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FUR-031~032</a:t>
            </a:r>
            <a:endParaRPr lang="en-US" sz="1000" dirty="0"/>
          </a:p>
        </p:txBody>
      </p:sp>
      <p:sp>
        <p:nvSpPr>
          <p:cNvPr id="51" name="Cards__Scope4__Badge"/>
          <p:cNvSpPr/>
          <p:nvPr/>
        </p:nvSpPr>
        <p:spPr>
          <a:xfrm>
            <a:off x="3630168" y="6355080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6A34A"/>
            </a:solidFill>
            <a:prstDash val="solid"/>
          </a:ln>
        </p:spPr>
      </p:sp>
      <p:pic>
        <p:nvPicPr>
          <p:cNvPr id="52" name="Cards__Scope4__Icon" descr="Cards__Scope4__Icon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726180" y="6451092"/>
            <a:ext cx="265176" cy="265176"/>
          </a:xfrm>
          <a:prstGeom prst="rect">
            <a:avLst/>
          </a:prstGeom>
        </p:spPr>
      </p:pic>
      <p:sp>
        <p:nvSpPr>
          <p:cNvPr id="53" name="Support__CarryLabel"/>
          <p:cNvSpPr/>
          <p:nvPr/>
        </p:nvSpPr>
        <p:spPr>
          <a:xfrm>
            <a:off x="384048" y="7516368"/>
            <a:ext cx="1536192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산출물 Carry-forward</a:t>
            </a:r>
            <a:endParaRPr lang="en-US" sz="1000" dirty="0"/>
          </a:p>
        </p:txBody>
      </p:sp>
      <p:sp>
        <p:nvSpPr>
          <p:cNvPr id="54" name="Support__CarryBand"/>
          <p:cNvSpPr/>
          <p:nvPr/>
        </p:nvSpPr>
        <p:spPr>
          <a:xfrm>
            <a:off x="1993392" y="7516368"/>
            <a:ext cx="4480560" cy="4572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단계의 자료·회의·검토 결과를 다음 단계가 그대로 이어받아 중복 입력과 판단 단절을 최소화</a:t>
            </a:r>
            <a:endParaRPr lang="en-US" sz="1000" dirty="0"/>
          </a:p>
        </p:txBody>
      </p:sp>
      <p:sp>
        <p:nvSpPr>
          <p:cNvPr id="55" name="Message__Label"/>
          <p:cNvSpPr/>
          <p:nvPr/>
        </p:nvSpPr>
        <p:spPr>
          <a:xfrm>
            <a:off x="384048" y="8467344"/>
            <a:ext cx="1024128" cy="274320"/>
          </a:xfrm>
          <a:prstGeom prst="roundRect">
            <a:avLst/>
          </a:prstGeom>
          <a:solidFill>
            <a:srgbClr val="2563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</a:t>
            </a:r>
            <a:endParaRPr lang="en-US" sz="1000" dirty="0"/>
          </a:p>
        </p:txBody>
      </p:sp>
      <p:sp>
        <p:nvSpPr>
          <p:cNvPr id="56" name="Message__Band"/>
          <p:cNvSpPr/>
          <p:nvPr/>
        </p:nvSpPr>
        <p:spPr>
          <a:xfrm>
            <a:off x="384048" y="8778240"/>
            <a:ext cx="6089904" cy="566928"/>
          </a:xfrm>
          <a:prstGeom prst="roundRect">
            <a:avLst/>
          </a:prstGeom>
          <a:solidFill>
            <a:srgbClr val="0B2E5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단계별 초안과 근거를 제공하고, 전문가는 검토·판단·승인을 통해 예산심의 책임성을 유지합니다.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DMT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예산심의 업무 프로세스와 AI 적용범위</dc:title>
  <dc:subject>2026 KISTI 독자 파운데이션 모델 기반 공공 R&amp;D AI 시스템 개발</dc:subject>
  <dc:creator>DMT Labs</dc:creator>
  <cp:lastModifiedBy>DMT Labs</cp:lastModifiedBy>
  <cp:revision>1</cp:revision>
  <dcterms:created xsi:type="dcterms:W3CDTF">2026-07-18T12:50:57Z</dcterms:created>
  <dcterms:modified xsi:type="dcterms:W3CDTF">2026-07-18T12:50:57Z</dcterms:modified>
</cp:coreProperties>
</file>