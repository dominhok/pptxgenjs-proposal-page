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hapterBlock"/>
          <p:cNvSpPr/>
          <p:nvPr/>
        </p:nvSpPr>
        <p:spPr>
          <a:xfrm>
            <a:off x="0" y="164592"/>
            <a:ext cx="1133856" cy="658368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ectionRibbon"/>
          <p:cNvSpPr/>
          <p:nvPr/>
        </p:nvSpPr>
        <p:spPr>
          <a:xfrm>
            <a:off x="987552" y="164592"/>
            <a:ext cx="4187952" cy="658368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hapterLabel"/>
          <p:cNvSpPr/>
          <p:nvPr/>
        </p:nvSpPr>
        <p:spPr>
          <a:xfrm>
            <a:off x="91440" y="256032"/>
            <a:ext cx="420624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</a:t>
            </a:r>
            <a:endParaRPr lang="en-US" sz="1000" dirty="0"/>
          </a:p>
        </p:txBody>
      </p:sp>
      <p:sp>
        <p:nvSpPr>
          <p:cNvPr id="6" name="SectionCode"/>
          <p:cNvSpPr/>
          <p:nvPr/>
        </p:nvSpPr>
        <p:spPr>
          <a:xfrm>
            <a:off x="91440" y="438912"/>
            <a:ext cx="731520" cy="283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II</a:t>
            </a:r>
            <a:endParaRPr lang="en-US" sz="2000" dirty="0"/>
          </a:p>
        </p:txBody>
      </p:sp>
      <p:sp>
        <p:nvSpPr>
          <p:cNvPr id="7" name="SectionTitle"/>
          <p:cNvSpPr/>
          <p:nvPr/>
        </p:nvSpPr>
        <p:spPr>
          <a:xfrm>
            <a:off x="1298448" y="329184"/>
            <a:ext cx="3401568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사업관리 · 산출물</a:t>
            </a:r>
            <a:endParaRPr lang="en-US" sz="1400" dirty="0"/>
          </a:p>
        </p:txBody>
      </p:sp>
      <p:sp>
        <p:nvSpPr>
          <p:cNvPr id="8" name="KistiMark"/>
          <p:cNvSpPr/>
          <p:nvPr/>
        </p:nvSpPr>
        <p:spPr>
          <a:xfrm>
            <a:off x="5715000" y="274320"/>
            <a:ext cx="71323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</a:t>
            </a:r>
            <a:endParaRPr lang="en-US" sz="1400" dirty="0"/>
          </a:p>
        </p:txBody>
      </p:sp>
      <p:sp>
        <p:nvSpPr>
          <p:cNvPr id="9" name="ProjectRibbon"/>
          <p:cNvSpPr/>
          <p:nvPr/>
        </p:nvSpPr>
        <p:spPr>
          <a:xfrm>
            <a:off x="3364992" y="914400"/>
            <a:ext cx="3493008" cy="22860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rojectName"/>
          <p:cNvSpPr/>
          <p:nvPr/>
        </p:nvSpPr>
        <p:spPr>
          <a:xfrm>
            <a:off x="3657600" y="914400"/>
            <a:ext cx="29077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공공 R&amp;D AI 시스템 개발</a:t>
            </a:r>
            <a:endParaRPr lang="en-US" sz="1000" dirty="0"/>
          </a:p>
        </p:txBody>
      </p:sp>
      <p:sp>
        <p:nvSpPr>
          <p:cNvPr id="11" name="TitleAccent"/>
          <p:cNvSpPr/>
          <p:nvPr/>
        </p:nvSpPr>
        <p:spPr>
          <a:xfrm>
            <a:off x="365760" y="127101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itle"/>
          <p:cNvSpPr/>
          <p:nvPr/>
        </p:nvSpPr>
        <p:spPr>
          <a:xfrm>
            <a:off x="512064" y="1225296"/>
            <a:ext cx="589788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제출시기 및 제출체계</a:t>
            </a:r>
            <a:endParaRPr lang="en-US" sz="2000" dirty="0"/>
          </a:p>
        </p:txBody>
      </p:sp>
      <p:sp>
        <p:nvSpPr>
          <p:cNvPr id="13" name="Subtitle"/>
          <p:cNvSpPr/>
          <p:nvPr/>
        </p:nvSpPr>
        <p:spPr>
          <a:xfrm>
            <a:off x="521208" y="1673352"/>
            <a:ext cx="580644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작성부터 공식제출까지 검토·보완·기준선을 통과하는 산출물 라이프사이클과 최종 인계 패키지</a:t>
            </a:r>
            <a:endParaRPr lang="en-US" sz="1000" dirty="0"/>
          </a:p>
        </p:txBody>
      </p:sp>
      <p:sp>
        <p:nvSpPr>
          <p:cNvPr id="14" name="FooterNavy"/>
          <p:cNvSpPr/>
          <p:nvPr/>
        </p:nvSpPr>
        <p:spPr>
          <a:xfrm>
            <a:off x="0" y="9537192"/>
            <a:ext cx="2057400" cy="365760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FooterBlue"/>
          <p:cNvSpPr/>
          <p:nvPr/>
        </p:nvSpPr>
        <p:spPr>
          <a:xfrm>
            <a:off x="1645920" y="9537192"/>
            <a:ext cx="2971800" cy="36576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FooterCyan"/>
          <p:cNvSpPr/>
          <p:nvPr/>
        </p:nvSpPr>
        <p:spPr>
          <a:xfrm>
            <a:off x="4224528" y="9537192"/>
            <a:ext cx="2633472" cy="365760"/>
          </a:xfrm>
          <a:prstGeom prst="parallelogram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ooter"/>
          <p:cNvSpPr/>
          <p:nvPr/>
        </p:nvSpPr>
        <p:spPr>
          <a:xfrm>
            <a:off x="274320" y="9610344"/>
            <a:ext cx="1152144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DMT Labs</a:t>
            </a:r>
            <a:endParaRPr lang="en-US" sz="1000" dirty="0"/>
          </a:p>
        </p:txBody>
      </p:sp>
      <p:sp>
        <p:nvSpPr>
          <p:cNvPr id="18" name="PageCode"/>
          <p:cNvSpPr/>
          <p:nvPr/>
        </p:nvSpPr>
        <p:spPr>
          <a:xfrm>
            <a:off x="5925312" y="9592056"/>
            <a:ext cx="5029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Flow__LifecycleLabel"/>
          <p:cNvSpPr/>
          <p:nvPr/>
        </p:nvSpPr>
        <p:spPr>
          <a:xfrm>
            <a:off x="384048" y="1993392"/>
            <a:ext cx="1572768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 Lifecycle</a:t>
            </a:r>
            <a:endParaRPr lang="en-US" sz="1000" dirty="0"/>
          </a:p>
        </p:txBody>
      </p:sp>
      <p:sp>
        <p:nvSpPr>
          <p:cNvPr id="20" name="Flow__Stage1"/>
          <p:cNvSpPr/>
          <p:nvPr/>
        </p:nvSpPr>
        <p:spPr>
          <a:xfrm>
            <a:off x="402336" y="2377440"/>
            <a:ext cx="1033272" cy="65836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작성·자체점검</a:t>
            </a:r>
            <a:endParaRPr lang="en-US" sz="1000" dirty="0"/>
          </a:p>
        </p:txBody>
      </p:sp>
      <p:pic>
        <p:nvPicPr>
          <p:cNvPr id="21" name="Flow__StageNo1" descr="Flow__StageNo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344" y="2267712"/>
            <a:ext cx="274320" cy="274320"/>
          </a:xfrm>
          <a:prstGeom prst="rect">
            <a:avLst/>
          </a:prstGeom>
        </p:spPr>
      </p:pic>
      <p:sp>
        <p:nvSpPr>
          <p:cNvPr id="22" name="Flow__Arrow1"/>
          <p:cNvSpPr/>
          <p:nvPr/>
        </p:nvSpPr>
        <p:spPr>
          <a:xfrm>
            <a:off x="1453896" y="2633472"/>
            <a:ext cx="146304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Flow__Stage2"/>
          <p:cNvSpPr/>
          <p:nvPr/>
        </p:nvSpPr>
        <p:spPr>
          <a:xfrm>
            <a:off x="1627632" y="2377440"/>
            <a:ext cx="1033272" cy="658368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기술·PM 검토</a:t>
            </a:r>
            <a:endParaRPr lang="en-US" sz="1000" dirty="0"/>
          </a:p>
        </p:txBody>
      </p:sp>
      <p:pic>
        <p:nvPicPr>
          <p:cNvPr id="24" name="Flow__StageNo2" descr="Flow__StageNo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1640" y="2267712"/>
            <a:ext cx="274320" cy="274320"/>
          </a:xfrm>
          <a:prstGeom prst="rect">
            <a:avLst/>
          </a:prstGeom>
        </p:spPr>
      </p:pic>
      <p:sp>
        <p:nvSpPr>
          <p:cNvPr id="25" name="Flow__Arrow2"/>
          <p:cNvSpPr/>
          <p:nvPr/>
        </p:nvSpPr>
        <p:spPr>
          <a:xfrm>
            <a:off x="2679192" y="2633472"/>
            <a:ext cx="146304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Flow__Stage3"/>
          <p:cNvSpPr/>
          <p:nvPr/>
        </p:nvSpPr>
        <p:spPr>
          <a:xfrm>
            <a:off x="2852928" y="2377440"/>
            <a:ext cx="1033272" cy="658368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검토</a:t>
            </a:r>
            <a:endParaRPr lang="en-US" sz="1000" dirty="0"/>
          </a:p>
        </p:txBody>
      </p:sp>
      <p:pic>
        <p:nvPicPr>
          <p:cNvPr id="27" name="Flow__StageNo3" descr="Flow__StageNo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6936" y="2267712"/>
            <a:ext cx="274320" cy="274320"/>
          </a:xfrm>
          <a:prstGeom prst="rect">
            <a:avLst/>
          </a:prstGeom>
        </p:spPr>
      </p:pic>
      <p:sp>
        <p:nvSpPr>
          <p:cNvPr id="28" name="Flow__Arrow3"/>
          <p:cNvSpPr/>
          <p:nvPr/>
        </p:nvSpPr>
        <p:spPr>
          <a:xfrm>
            <a:off x="3904488" y="2633472"/>
            <a:ext cx="146304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Flow__Stage4"/>
          <p:cNvSpPr/>
          <p:nvPr/>
        </p:nvSpPr>
        <p:spPr>
          <a:xfrm>
            <a:off x="4078224" y="2377440"/>
            <a:ext cx="1033272" cy="658368"/>
          </a:xfrm>
          <a:prstGeom prst="roundRect">
            <a:avLst/>
          </a:prstGeom>
          <a:solidFill>
            <a:srgbClr val="FFF7E6"/>
          </a:solidFill>
          <a:ln w="11430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보완·기준선</a:t>
            </a:r>
            <a:endParaRPr lang="en-US" sz="1000" dirty="0"/>
          </a:p>
        </p:txBody>
      </p:sp>
      <p:pic>
        <p:nvPicPr>
          <p:cNvPr id="30" name="Flow__StageNo4" descr="Flow__StageNo4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42232" y="2267712"/>
            <a:ext cx="274320" cy="274320"/>
          </a:xfrm>
          <a:prstGeom prst="rect">
            <a:avLst/>
          </a:prstGeom>
        </p:spPr>
      </p:pic>
      <p:sp>
        <p:nvSpPr>
          <p:cNvPr id="31" name="Flow__Arrow4"/>
          <p:cNvSpPr/>
          <p:nvPr/>
        </p:nvSpPr>
        <p:spPr>
          <a:xfrm>
            <a:off x="5129784" y="2633472"/>
            <a:ext cx="146304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Flow__Stage5"/>
          <p:cNvSpPr/>
          <p:nvPr/>
        </p:nvSpPr>
        <p:spPr>
          <a:xfrm>
            <a:off x="5303520" y="2377440"/>
            <a:ext cx="1033272" cy="658368"/>
          </a:xfrm>
          <a:prstGeom prst="roundRect">
            <a:avLst/>
          </a:prstGeom>
          <a:solidFill>
            <a:srgbClr val="ECFDF3"/>
          </a:solidFill>
          <a:ln w="11430">
            <a:solidFill>
              <a:srgbClr val="16A34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공식제출</a:t>
            </a:r>
            <a:endParaRPr lang="en-US" sz="1000" dirty="0"/>
          </a:p>
        </p:txBody>
      </p:sp>
      <p:pic>
        <p:nvPicPr>
          <p:cNvPr id="33" name="Flow__StageNo5" descr="Flow__StageNo5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67528" y="2267712"/>
            <a:ext cx="274320" cy="274320"/>
          </a:xfrm>
          <a:prstGeom prst="rect">
            <a:avLst/>
          </a:prstGeom>
        </p:spPr>
      </p:pic>
      <p:sp>
        <p:nvSpPr>
          <p:cNvPr id="34" name="Cards__PackageTitle"/>
          <p:cNvSpPr/>
          <p:nvPr/>
        </p:nvSpPr>
        <p:spPr>
          <a:xfrm>
            <a:off x="384048" y="3273552"/>
            <a:ext cx="6089904" cy="38404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산출물 패키지</a:t>
            </a:r>
            <a:endParaRPr lang="en-US" sz="1200" dirty="0"/>
          </a:p>
        </p:txBody>
      </p:sp>
      <p:sp>
        <p:nvSpPr>
          <p:cNvPr id="35" name="Cards__Package1"/>
          <p:cNvSpPr/>
          <p:nvPr/>
        </p:nvSpPr>
        <p:spPr>
          <a:xfrm>
            <a:off x="384048" y="3886200"/>
            <a:ext cx="2971800" cy="137160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635000" tIns="114300" rIns="139700" bIns="139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계획·설계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수행계획 · 요구사항 · 아키텍처 · 상세설계</a:t>
            </a:r>
            <a:endParaRPr lang="en-US" sz="1000" dirty="0"/>
          </a:p>
        </p:txBody>
      </p:sp>
      <p:sp>
        <p:nvSpPr>
          <p:cNvPr id="36" name="Cards__Package1__Badge"/>
          <p:cNvSpPr/>
          <p:nvPr/>
        </p:nvSpPr>
        <p:spPr>
          <a:xfrm>
            <a:off x="512064" y="4334256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37" name="Cards__Package1__Icon" descr="Cards__Package1__Ico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8076" y="4430268"/>
            <a:ext cx="265176" cy="265176"/>
          </a:xfrm>
          <a:prstGeom prst="rect">
            <a:avLst/>
          </a:prstGeom>
        </p:spPr>
      </p:pic>
      <p:sp>
        <p:nvSpPr>
          <p:cNvPr id="38" name="Cards__Package2"/>
          <p:cNvSpPr/>
          <p:nvPr/>
        </p:nvSpPr>
        <p:spPr>
          <a:xfrm>
            <a:off x="3502152" y="3886200"/>
            <a:ext cx="2971800" cy="1371600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635000" tIns="114300" rIns="139700" bIns="139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구현·배포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소스코드 · 빌드/배포 · DB Migration · 컨테이너/Helm</a:t>
            </a:r>
            <a:endParaRPr lang="en-US" sz="1000" dirty="0"/>
          </a:p>
        </p:txBody>
      </p:sp>
      <p:sp>
        <p:nvSpPr>
          <p:cNvPr id="39" name="Cards__Package2__Badge"/>
          <p:cNvSpPr/>
          <p:nvPr/>
        </p:nvSpPr>
        <p:spPr>
          <a:xfrm>
            <a:off x="3630168" y="4334256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40" name="Cards__Package2__Icon" descr="Cards__Package2__Ico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26180" y="4430268"/>
            <a:ext cx="265176" cy="265176"/>
          </a:xfrm>
          <a:prstGeom prst="rect">
            <a:avLst/>
          </a:prstGeom>
        </p:spPr>
      </p:pic>
      <p:sp>
        <p:nvSpPr>
          <p:cNvPr id="41" name="Cards__Package3"/>
          <p:cNvSpPr/>
          <p:nvPr/>
        </p:nvSpPr>
        <p:spPr>
          <a:xfrm>
            <a:off x="384048" y="5513832"/>
            <a:ext cx="2971800" cy="1371600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635000" tIns="114300" rIns="139700" bIns="139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시험·품질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단위/통합/성능/보안/UAT 결과 · 결함조치 이력</a:t>
            </a:r>
            <a:endParaRPr lang="en-US" sz="1000" dirty="0"/>
          </a:p>
        </p:txBody>
      </p:sp>
      <p:sp>
        <p:nvSpPr>
          <p:cNvPr id="42" name="Cards__Package3__Badge"/>
          <p:cNvSpPr/>
          <p:nvPr/>
        </p:nvSpPr>
        <p:spPr>
          <a:xfrm>
            <a:off x="512064" y="5961888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F766E"/>
            </a:solidFill>
            <a:prstDash val="solid"/>
          </a:ln>
        </p:spPr>
      </p:sp>
      <p:pic>
        <p:nvPicPr>
          <p:cNvPr id="43" name="Cards__Package3__Icon" descr="Cards__Package3__Icon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8076" y="6057900"/>
            <a:ext cx="265176" cy="265176"/>
          </a:xfrm>
          <a:prstGeom prst="rect">
            <a:avLst/>
          </a:prstGeom>
        </p:spPr>
      </p:pic>
      <p:sp>
        <p:nvSpPr>
          <p:cNvPr id="44" name="Cards__Package4"/>
          <p:cNvSpPr/>
          <p:nvPr/>
        </p:nvSpPr>
        <p:spPr>
          <a:xfrm>
            <a:off x="3502152" y="5513832"/>
            <a:ext cx="2971800" cy="1371600"/>
          </a:xfrm>
          <a:prstGeom prst="roundRect">
            <a:avLst/>
          </a:prstGeom>
          <a:solidFill>
            <a:srgbClr val="FFF7E6"/>
          </a:solidFill>
          <a:ln w="11430">
            <a:solidFill>
              <a:srgbClr val="F59E0B"/>
            </a:solidFill>
          </a:ln>
        </p:spPr>
        <p:txBody>
          <a:bodyPr wrap="square" lIns="635000" tIns="114300" rIns="139700" bIns="139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운영·교육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운영·사용자 매뉴얼 · 교육자료 · 설정/버전 정보</a:t>
            </a:r>
            <a:endParaRPr lang="en-US" sz="1000" dirty="0"/>
          </a:p>
        </p:txBody>
      </p:sp>
      <p:sp>
        <p:nvSpPr>
          <p:cNvPr id="45" name="Cards__Package4__Badge"/>
          <p:cNvSpPr/>
          <p:nvPr/>
        </p:nvSpPr>
        <p:spPr>
          <a:xfrm>
            <a:off x="3630168" y="5961888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46" name="Cards__Package4__Icon" descr="Cards__Package4__Icon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26180" y="6057900"/>
            <a:ext cx="265176" cy="265176"/>
          </a:xfrm>
          <a:prstGeom prst="rect">
            <a:avLst/>
          </a:prstGeom>
        </p:spPr>
      </p:pic>
      <p:sp>
        <p:nvSpPr>
          <p:cNvPr id="47" name="Cards__FinalPackage"/>
          <p:cNvSpPr/>
          <p:nvPr/>
        </p:nvSpPr>
        <p:spPr>
          <a:xfrm>
            <a:off x="384048" y="7132320"/>
            <a:ext cx="6089904" cy="1042416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16A34A"/>
            </a:solidFill>
          </a:ln>
        </p:spPr>
        <p:txBody>
          <a:bodyPr wrap="square" lIns="736600" tIns="101600" rIns="127000" bIns="152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최종 인계 패키지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문서·소스·배포자산·시험증거·매뉴얼·교육자료·라이선스·EA 정보를 하나의 버전 기준으로 정합화</a:t>
            </a:r>
            <a:endParaRPr lang="en-US" sz="1000" dirty="0"/>
          </a:p>
        </p:txBody>
      </p:sp>
      <p:sp>
        <p:nvSpPr>
          <p:cNvPr id="48" name="Cards__FinalPackage__Badge"/>
          <p:cNvSpPr/>
          <p:nvPr/>
        </p:nvSpPr>
        <p:spPr>
          <a:xfrm>
            <a:off x="530352" y="7434072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pic>
        <p:nvPicPr>
          <p:cNvPr id="49" name="Cards__FinalPackage__Icon" descr="Cards__FinalPackage__Icon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0204" y="7533924"/>
            <a:ext cx="275783" cy="275783"/>
          </a:xfrm>
          <a:prstGeom prst="rect">
            <a:avLst/>
          </a:prstGeom>
        </p:spPr>
      </p:pic>
      <p:sp>
        <p:nvSpPr>
          <p:cNvPr id="50" name="Message__Label"/>
          <p:cNvSpPr/>
          <p:nvPr/>
        </p:nvSpPr>
        <p:spPr>
          <a:xfrm>
            <a:off x="384048" y="8467344"/>
            <a:ext cx="1024128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51" name="Message__Band"/>
          <p:cNvSpPr/>
          <p:nvPr/>
        </p:nvSpPr>
        <p:spPr>
          <a:xfrm>
            <a:off x="384048" y="8778240"/>
            <a:ext cx="6089904" cy="56692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산출물은 검토·보완·기준선 절차를 거쳐 동일 버전의 최종 인계 패키지로 공식 제출합니다.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DMT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산출물 제출시기 및 제출체계</dc:title>
  <dc:subject>2026 KISTI 독자 파운데이션 모델 기반 공공 R&amp;D AI 시스템 개발</dc:subject>
  <dc:creator>DMT Labs</dc:creator>
  <cp:lastModifiedBy>DMT Labs</cp:lastModifiedBy>
  <cp:revision>1</cp:revision>
  <dcterms:created xsi:type="dcterms:W3CDTF">2026-07-18T12:50:57Z</dcterms:created>
  <dcterms:modified xsi:type="dcterms:W3CDTF">2026-07-18T12:50:57Z</dcterms:modified>
</cp:coreProperties>
</file>