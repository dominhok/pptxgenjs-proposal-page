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6858000" cy="9905970"/>
  <p:notesSz cx="990597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Rule"/>
          <p:cNvSpPr/>
          <p:nvPr/>
        </p:nvSpPr>
        <p:spPr>
          <a:xfrm>
            <a:off x="0" y="0"/>
            <a:ext cx="6858000" cy="54864"/>
          </a:xfrm>
          <a:prstGeom prst="rect">
            <a:avLst/>
          </a:prstGeom>
          <a:solidFill>
            <a:srgbClr val="17B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ChapterBlock"/>
          <p:cNvSpPr/>
          <p:nvPr/>
        </p:nvSpPr>
        <p:spPr>
          <a:xfrm>
            <a:off x="0" y="164592"/>
            <a:ext cx="1133856" cy="658368"/>
          </a:xfrm>
          <a:prstGeom prst="parallelogram">
            <a:avLst/>
          </a:prstGeom>
          <a:solidFill>
            <a:srgbClr val="0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ectionRibbon"/>
          <p:cNvSpPr/>
          <p:nvPr/>
        </p:nvSpPr>
        <p:spPr>
          <a:xfrm>
            <a:off x="987552" y="164592"/>
            <a:ext cx="4187952" cy="658368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ChapterLabel"/>
          <p:cNvSpPr/>
          <p:nvPr/>
        </p:nvSpPr>
        <p:spPr>
          <a:xfrm>
            <a:off x="91440" y="256032"/>
            <a:ext cx="420624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CH.</a:t>
            </a:r>
            <a:endParaRPr lang="en-US" sz="1000" dirty="0"/>
          </a:p>
        </p:txBody>
      </p:sp>
      <p:sp>
        <p:nvSpPr>
          <p:cNvPr id="6" name="SectionCode"/>
          <p:cNvSpPr/>
          <p:nvPr/>
        </p:nvSpPr>
        <p:spPr>
          <a:xfrm>
            <a:off x="91440" y="438912"/>
            <a:ext cx="731520" cy="28346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III</a:t>
            </a:r>
            <a:endParaRPr lang="en-US" sz="2000" dirty="0"/>
          </a:p>
        </p:txBody>
      </p:sp>
      <p:sp>
        <p:nvSpPr>
          <p:cNvPr id="7" name="SectionTitle"/>
          <p:cNvSpPr/>
          <p:nvPr/>
        </p:nvSpPr>
        <p:spPr>
          <a:xfrm>
            <a:off x="1298448" y="329184"/>
            <a:ext cx="3401568" cy="310896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품질보증 · 실행증거</a:t>
            </a:r>
            <a:endParaRPr lang="en-US" sz="1400" dirty="0"/>
          </a:p>
        </p:txBody>
      </p:sp>
      <p:sp>
        <p:nvSpPr>
          <p:cNvPr id="8" name="KistiMark"/>
          <p:cNvSpPr/>
          <p:nvPr/>
        </p:nvSpPr>
        <p:spPr>
          <a:xfrm>
            <a:off x="5715000" y="274320"/>
            <a:ext cx="713232" cy="27432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</a:t>
            </a:r>
            <a:endParaRPr lang="en-US" sz="1400" dirty="0"/>
          </a:p>
        </p:txBody>
      </p:sp>
      <p:sp>
        <p:nvSpPr>
          <p:cNvPr id="9" name="ProjectRibbon"/>
          <p:cNvSpPr/>
          <p:nvPr/>
        </p:nvSpPr>
        <p:spPr>
          <a:xfrm>
            <a:off x="3364992" y="914400"/>
            <a:ext cx="3493008" cy="228600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ProjectName"/>
          <p:cNvSpPr/>
          <p:nvPr/>
        </p:nvSpPr>
        <p:spPr>
          <a:xfrm>
            <a:off x="3657600" y="914400"/>
            <a:ext cx="290779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KISTI 공공 R&amp;D AI 시스템 개발</a:t>
            </a:r>
            <a:endParaRPr lang="en-US" sz="1000" dirty="0"/>
          </a:p>
        </p:txBody>
      </p:sp>
      <p:sp>
        <p:nvSpPr>
          <p:cNvPr id="11" name="TitleAccent"/>
          <p:cNvSpPr/>
          <p:nvPr/>
        </p:nvSpPr>
        <p:spPr>
          <a:xfrm>
            <a:off x="365760" y="1271016"/>
            <a:ext cx="64008" cy="530352"/>
          </a:xfrm>
          <a:prstGeom prst="rect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itle"/>
          <p:cNvSpPr/>
          <p:nvPr/>
        </p:nvSpPr>
        <p:spPr>
          <a:xfrm>
            <a:off x="512064" y="1225296"/>
            <a:ext cx="5897880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품질보증방안 및 증거 기반 Quality Gate</a:t>
            </a:r>
            <a:endParaRPr lang="en-US" sz="2000" dirty="0"/>
          </a:p>
        </p:txBody>
      </p:sp>
      <p:sp>
        <p:nvSpPr>
          <p:cNvPr id="13" name="Subtitle"/>
          <p:cNvSpPr/>
          <p:nvPr/>
        </p:nvSpPr>
        <p:spPr>
          <a:xfrm>
            <a:off x="521208" y="1673352"/>
            <a:ext cx="5806440" cy="24688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인증 보유를 전제하지 않고 추적성·검토·시험·결함·승인 기록으로 품질을 입증하는 실행체계</a:t>
            </a:r>
            <a:endParaRPr lang="en-US" sz="1000" dirty="0"/>
          </a:p>
        </p:txBody>
      </p:sp>
      <p:sp>
        <p:nvSpPr>
          <p:cNvPr id="14" name="FooterNavy"/>
          <p:cNvSpPr/>
          <p:nvPr/>
        </p:nvSpPr>
        <p:spPr>
          <a:xfrm>
            <a:off x="0" y="9537192"/>
            <a:ext cx="2057400" cy="365760"/>
          </a:xfrm>
          <a:prstGeom prst="parallelogram">
            <a:avLst/>
          </a:prstGeom>
          <a:solidFill>
            <a:srgbClr val="0B2E5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FooterBlue"/>
          <p:cNvSpPr/>
          <p:nvPr/>
        </p:nvSpPr>
        <p:spPr>
          <a:xfrm>
            <a:off x="1645920" y="9537192"/>
            <a:ext cx="2971800" cy="365760"/>
          </a:xfrm>
          <a:prstGeom prst="parallelogram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FooterCyan"/>
          <p:cNvSpPr/>
          <p:nvPr/>
        </p:nvSpPr>
        <p:spPr>
          <a:xfrm>
            <a:off x="4224528" y="9537192"/>
            <a:ext cx="2633472" cy="365760"/>
          </a:xfrm>
          <a:prstGeom prst="parallelogram">
            <a:avLst/>
          </a:prstGeom>
          <a:solidFill>
            <a:srgbClr val="17B7D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Footer"/>
          <p:cNvSpPr/>
          <p:nvPr/>
        </p:nvSpPr>
        <p:spPr>
          <a:xfrm>
            <a:off x="274320" y="9610344"/>
            <a:ext cx="1152144" cy="16459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DMT Labs</a:t>
            </a:r>
            <a:endParaRPr lang="en-US" sz="1000" dirty="0"/>
          </a:p>
        </p:txBody>
      </p:sp>
      <p:sp>
        <p:nvSpPr>
          <p:cNvPr id="18" name="PageCode"/>
          <p:cNvSpPr/>
          <p:nvPr/>
        </p:nvSpPr>
        <p:spPr>
          <a:xfrm>
            <a:off x="5925312" y="9592056"/>
            <a:ext cx="502920" cy="182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</a:t>
            </a:r>
            <a:endParaRPr lang="en-US" sz="1200" dirty="0"/>
          </a:p>
        </p:txBody>
      </p:sp>
      <p:sp>
        <p:nvSpPr>
          <p:cNvPr id="19" name="Support__Disclosure"/>
          <p:cNvSpPr/>
          <p:nvPr/>
        </p:nvSpPr>
        <p:spPr>
          <a:xfrm>
            <a:off x="384048" y="1993392"/>
            <a:ext cx="6089904" cy="347472"/>
          </a:xfrm>
          <a:prstGeom prst="roundRect">
            <a:avLst/>
          </a:prstGeom>
          <a:solidFill>
            <a:srgbClr val="FFF7E6"/>
          </a:solidFill>
          <a:ln w="10160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E5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외부 인증이 아니라 프로젝트 실행 증거로 품질을 입증</a:t>
            </a:r>
            <a:endParaRPr lang="en-US" sz="1000" dirty="0"/>
          </a:p>
        </p:txBody>
      </p:sp>
      <p:sp>
        <p:nvSpPr>
          <p:cNvPr id="20" name="Flow__Stage1"/>
          <p:cNvSpPr/>
          <p:nvPr/>
        </p:nvSpPr>
        <p:spPr>
          <a:xfrm>
            <a:off x="402336" y="2615184"/>
            <a:ext cx="1033272" cy="530352"/>
          </a:xfrm>
          <a:prstGeom prst="roundRect">
            <a:avLst/>
          </a:prstGeom>
          <a:solidFill>
            <a:srgbClr val="EFF6FF"/>
          </a:solidFill>
          <a:ln w="11430">
            <a:solidFill>
              <a:srgbClr val="2563E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</a:t>
            </a:r>
            <a:endParaRPr lang="en-US" sz="1000" dirty="0"/>
          </a:p>
        </p:txBody>
      </p:sp>
      <p:sp>
        <p:nvSpPr>
          <p:cNvPr id="21" name="Flow__Arrow1"/>
          <p:cNvSpPr/>
          <p:nvPr/>
        </p:nvSpPr>
        <p:spPr>
          <a:xfrm>
            <a:off x="1453896" y="2816352"/>
            <a:ext cx="146304" cy="118872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Flow__Stage2"/>
          <p:cNvSpPr/>
          <p:nvPr/>
        </p:nvSpPr>
        <p:spPr>
          <a:xfrm>
            <a:off x="1627632" y="2615184"/>
            <a:ext cx="1033272" cy="530352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7C3AE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</a:t>
            </a:r>
            <a:endParaRPr lang="en-US" sz="1000" dirty="0"/>
          </a:p>
        </p:txBody>
      </p:sp>
      <p:sp>
        <p:nvSpPr>
          <p:cNvPr id="23" name="Flow__Arrow2"/>
          <p:cNvSpPr/>
          <p:nvPr/>
        </p:nvSpPr>
        <p:spPr>
          <a:xfrm>
            <a:off x="2679192" y="2816352"/>
            <a:ext cx="146304" cy="118872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Flow__Stage3"/>
          <p:cNvSpPr/>
          <p:nvPr/>
        </p:nvSpPr>
        <p:spPr>
          <a:xfrm>
            <a:off x="2852928" y="2615184"/>
            <a:ext cx="1033272" cy="530352"/>
          </a:xfrm>
          <a:prstGeom prst="roundRect">
            <a:avLst/>
          </a:prstGeom>
          <a:solidFill>
            <a:srgbClr val="ECFDF5"/>
          </a:solidFill>
          <a:ln w="11430">
            <a:solidFill>
              <a:srgbClr val="0F766E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구현</a:t>
            </a:r>
            <a:endParaRPr lang="en-US" sz="1000" dirty="0"/>
          </a:p>
        </p:txBody>
      </p:sp>
      <p:sp>
        <p:nvSpPr>
          <p:cNvPr id="25" name="Flow__Arrow3"/>
          <p:cNvSpPr/>
          <p:nvPr/>
        </p:nvSpPr>
        <p:spPr>
          <a:xfrm>
            <a:off x="3904488" y="2816352"/>
            <a:ext cx="146304" cy="118872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Flow__Stage4"/>
          <p:cNvSpPr/>
          <p:nvPr/>
        </p:nvSpPr>
        <p:spPr>
          <a:xfrm>
            <a:off x="4078224" y="2615184"/>
            <a:ext cx="1033272" cy="530352"/>
          </a:xfrm>
          <a:prstGeom prst="roundRect">
            <a:avLst/>
          </a:prstGeom>
          <a:solidFill>
            <a:srgbClr val="FFF7E6"/>
          </a:solidFill>
          <a:ln w="11430">
            <a:solidFill>
              <a:srgbClr val="F59E0B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</a:t>
            </a:r>
            <a:endParaRPr lang="en-US" sz="1000" dirty="0"/>
          </a:p>
        </p:txBody>
      </p:sp>
      <p:sp>
        <p:nvSpPr>
          <p:cNvPr id="27" name="Flow__Arrow4"/>
          <p:cNvSpPr/>
          <p:nvPr/>
        </p:nvSpPr>
        <p:spPr>
          <a:xfrm>
            <a:off x="5129784" y="2816352"/>
            <a:ext cx="146304" cy="118872"/>
          </a:xfrm>
          <a:prstGeom prst="rightArrow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Flow__Stage5"/>
          <p:cNvSpPr/>
          <p:nvPr/>
        </p:nvSpPr>
        <p:spPr>
          <a:xfrm>
            <a:off x="5303520" y="2615184"/>
            <a:ext cx="1033272" cy="530352"/>
          </a:xfrm>
          <a:prstGeom prst="roundRect">
            <a:avLst/>
          </a:prstGeom>
          <a:solidFill>
            <a:srgbClr val="ECFDF3"/>
          </a:solidFill>
          <a:ln w="11430">
            <a:solidFill>
              <a:srgbClr val="16A34A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전환</a:t>
            </a:r>
            <a:endParaRPr lang="en-US" sz="1000" dirty="0"/>
          </a:p>
        </p:txBody>
      </p:sp>
      <p:sp>
        <p:nvSpPr>
          <p:cNvPr id="29" name="Flow__EvidencePanel"/>
          <p:cNvSpPr/>
          <p:nvPr/>
        </p:nvSpPr>
        <p:spPr>
          <a:xfrm>
            <a:off x="384048" y="3401568"/>
            <a:ext cx="6089904" cy="4773168"/>
          </a:xfrm>
          <a:prstGeom prst="roundRect">
            <a:avLst/>
          </a:prstGeom>
          <a:solidFill>
            <a:srgbClr val="F7FAFE"/>
          </a:solidFill>
          <a:ln w="10160">
            <a:solidFill>
              <a:srgbClr val="CFDCEC"/>
            </a:solidFill>
            <a:prstDash val="solid"/>
          </a:ln>
        </p:spPr>
      </p:sp>
      <p:sp>
        <p:nvSpPr>
          <p:cNvPr id="30" name="Flow__QualityHub"/>
          <p:cNvSpPr/>
          <p:nvPr/>
        </p:nvSpPr>
        <p:spPr>
          <a:xfrm>
            <a:off x="2450592" y="4297680"/>
            <a:ext cx="1956816" cy="2176272"/>
          </a:xfrm>
          <a:prstGeom prst="roundRect">
            <a:avLst/>
          </a:prstGeom>
          <a:solidFill>
            <a:srgbClr val="0B2E5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품질보증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증거 허브</a:t>
            </a:r>
            <a:endParaRPr lang="en-US" sz="1600" dirty="0"/>
          </a:p>
        </p:txBody>
      </p:sp>
      <p:sp>
        <p:nvSpPr>
          <p:cNvPr id="31" name="Flow__QualityHub__Badge"/>
          <p:cNvSpPr/>
          <p:nvPr/>
        </p:nvSpPr>
        <p:spPr>
          <a:xfrm>
            <a:off x="3081528" y="5431536"/>
            <a:ext cx="694944" cy="694944"/>
          </a:xfrm>
          <a:prstGeom prst="ellipse">
            <a:avLst/>
          </a:prstGeom>
          <a:solidFill>
            <a:srgbClr val="2563EB"/>
          </a:solidFill>
          <a:ln w="10160">
            <a:solidFill>
              <a:srgbClr val="FFFFFF"/>
            </a:solidFill>
            <a:prstDash val="solid"/>
          </a:ln>
        </p:spPr>
      </p:sp>
      <p:pic>
        <p:nvPicPr>
          <p:cNvPr id="32" name="Flow__QualityHub__Icon" descr="Flow__QualityHub__Ico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27466" y="5577474"/>
            <a:ext cx="403068" cy="403068"/>
          </a:xfrm>
          <a:prstGeom prst="rect">
            <a:avLst/>
          </a:prstGeom>
        </p:spPr>
      </p:pic>
      <p:sp>
        <p:nvSpPr>
          <p:cNvPr id="33" name="Flow__TraceLabel"/>
          <p:cNvSpPr/>
          <p:nvPr/>
        </p:nvSpPr>
        <p:spPr>
          <a:xfrm>
            <a:off x="621792" y="3685032"/>
            <a:ext cx="1572768" cy="310896"/>
          </a:xfrm>
          <a:prstGeom prst="roundRect">
            <a:avLst/>
          </a:prstGeom>
          <a:solidFill>
            <a:srgbClr val="2563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Traceability</a:t>
            </a:r>
            <a:endParaRPr lang="en-US" sz="1000" dirty="0"/>
          </a:p>
        </p:txBody>
      </p:sp>
      <p:sp>
        <p:nvSpPr>
          <p:cNvPr id="34" name="Flow__ApprovalLabel"/>
          <p:cNvSpPr/>
          <p:nvPr/>
        </p:nvSpPr>
        <p:spPr>
          <a:xfrm>
            <a:off x="4663440" y="3685032"/>
            <a:ext cx="1572768" cy="310896"/>
          </a:xfrm>
          <a:prstGeom prst="roundRect">
            <a:avLst/>
          </a:prstGeom>
          <a:solidFill>
            <a:srgbClr val="16A34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Approval</a:t>
            </a:r>
            <a:endParaRPr lang="en-US" sz="1000" dirty="0"/>
          </a:p>
        </p:txBody>
      </p:sp>
      <p:sp>
        <p:nvSpPr>
          <p:cNvPr id="35" name="Cards__EvidenceIn1"/>
          <p:cNvSpPr/>
          <p:nvPr/>
        </p:nvSpPr>
        <p:spPr>
          <a:xfrm>
            <a:off x="603504" y="4206240"/>
            <a:ext cx="1645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563EB"/>
            </a:solidFill>
          </a:ln>
        </p:spPr>
        <p:txBody>
          <a:bodyPr wrap="square" lIns="482600" tIns="508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계획·추적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품질계획 · 요구↔설계↔코드↔시험 연결</a:t>
            </a:r>
            <a:endParaRPr lang="en-US" sz="1000" dirty="0"/>
          </a:p>
        </p:txBody>
      </p:sp>
      <p:sp>
        <p:nvSpPr>
          <p:cNvPr id="36" name="Cards__EvidenceIn1__Badge"/>
          <p:cNvSpPr/>
          <p:nvPr/>
        </p:nvSpPr>
        <p:spPr>
          <a:xfrm>
            <a:off x="667512" y="4489704"/>
            <a:ext cx="329184" cy="3291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</p:spPr>
      </p:sp>
      <p:pic>
        <p:nvPicPr>
          <p:cNvPr id="37" name="Cards__EvidenceIn1__Icon" descr="Cards__EvidenceIn1__Icon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6641" y="4558833"/>
            <a:ext cx="190927" cy="190927"/>
          </a:xfrm>
          <a:prstGeom prst="rect">
            <a:avLst/>
          </a:prstGeom>
        </p:spPr>
      </p:pic>
      <p:sp>
        <p:nvSpPr>
          <p:cNvPr id="38" name="Flow__EvidenceInLink1"/>
          <p:cNvSpPr/>
          <p:nvPr/>
        </p:nvSpPr>
        <p:spPr>
          <a:xfrm>
            <a:off x="2249424" y="4672584"/>
            <a:ext cx="201168" cy="0"/>
          </a:xfrm>
          <a:prstGeom prst="line">
            <a:avLst/>
          </a:prstGeom>
          <a:noFill/>
          <a:ln w="1651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39" name="Cards__EvidenceIn2"/>
          <p:cNvSpPr/>
          <p:nvPr/>
        </p:nvSpPr>
        <p:spPr>
          <a:xfrm>
            <a:off x="603504" y="5349240"/>
            <a:ext cx="1645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C3AED"/>
            </a:solidFill>
          </a:ln>
        </p:spPr>
        <p:txBody>
          <a:bodyPr wrap="square" lIns="482600" tIns="508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검토·시험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단계별 검토기록 · 시험결과 · 객관적 증거</a:t>
            </a:r>
            <a:endParaRPr lang="en-US" sz="1000" dirty="0"/>
          </a:p>
        </p:txBody>
      </p:sp>
      <p:sp>
        <p:nvSpPr>
          <p:cNvPr id="40" name="Cards__EvidenceIn2__Badge"/>
          <p:cNvSpPr/>
          <p:nvPr/>
        </p:nvSpPr>
        <p:spPr>
          <a:xfrm>
            <a:off x="667512" y="5632704"/>
            <a:ext cx="329184" cy="3291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pic>
        <p:nvPicPr>
          <p:cNvPr id="41" name="Cards__EvidenceIn2__Icon" descr="Cards__EvidenceIn2__Icon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6641" y="5701833"/>
            <a:ext cx="190927" cy="190927"/>
          </a:xfrm>
          <a:prstGeom prst="rect">
            <a:avLst/>
          </a:prstGeom>
        </p:spPr>
      </p:pic>
      <p:sp>
        <p:nvSpPr>
          <p:cNvPr id="42" name="Flow__EvidenceInLink2"/>
          <p:cNvSpPr/>
          <p:nvPr/>
        </p:nvSpPr>
        <p:spPr>
          <a:xfrm>
            <a:off x="2249424" y="5815584"/>
            <a:ext cx="201168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43" name="Cards__EvidenceIn3"/>
          <p:cNvSpPr/>
          <p:nvPr/>
        </p:nvSpPr>
        <p:spPr>
          <a:xfrm>
            <a:off x="603504" y="6492240"/>
            <a:ext cx="1645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9E0B"/>
            </a:solidFill>
          </a:ln>
        </p:spPr>
        <p:txBody>
          <a:bodyPr wrap="square" lIns="482600" tIns="508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결함 이력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등급·조치·재시험 · 잔여위험 기록</a:t>
            </a:r>
            <a:endParaRPr lang="en-US" sz="1000" dirty="0"/>
          </a:p>
        </p:txBody>
      </p:sp>
      <p:sp>
        <p:nvSpPr>
          <p:cNvPr id="44" name="Cards__EvidenceIn3__Badge"/>
          <p:cNvSpPr/>
          <p:nvPr/>
        </p:nvSpPr>
        <p:spPr>
          <a:xfrm>
            <a:off x="667512" y="6775704"/>
            <a:ext cx="329184" cy="3291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</p:spPr>
      </p:sp>
      <p:pic>
        <p:nvPicPr>
          <p:cNvPr id="45" name="Cards__EvidenceIn3__Icon" descr="Cards__EvidenceIn3__Icon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6641" y="6844833"/>
            <a:ext cx="190927" cy="190927"/>
          </a:xfrm>
          <a:prstGeom prst="rect">
            <a:avLst/>
          </a:prstGeom>
        </p:spPr>
      </p:pic>
      <p:sp>
        <p:nvSpPr>
          <p:cNvPr id="46" name="Flow__EvidenceInLink3"/>
          <p:cNvSpPr/>
          <p:nvPr/>
        </p:nvSpPr>
        <p:spPr>
          <a:xfrm>
            <a:off x="2249424" y="6958584"/>
            <a:ext cx="201168" cy="0"/>
          </a:xfrm>
          <a:prstGeom prst="line">
            <a:avLst/>
          </a:prstGeom>
          <a:noFill/>
          <a:ln w="1651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47" name="Cards__EvidenceOut1"/>
          <p:cNvSpPr/>
          <p:nvPr/>
        </p:nvSpPr>
        <p:spPr>
          <a:xfrm>
            <a:off x="4608576" y="4206240"/>
            <a:ext cx="1645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F766E"/>
            </a:solidFill>
          </a:ln>
        </p:spPr>
        <p:txBody>
          <a:bodyPr wrap="square" lIns="482600" tIns="508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Gate 판정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진입·완료 기준 충족 여부 확인</a:t>
            </a:r>
            <a:endParaRPr lang="en-US" sz="1000" dirty="0"/>
          </a:p>
        </p:txBody>
      </p:sp>
      <p:sp>
        <p:nvSpPr>
          <p:cNvPr id="48" name="Cards__EvidenceOut1__Badge"/>
          <p:cNvSpPr/>
          <p:nvPr/>
        </p:nvSpPr>
        <p:spPr>
          <a:xfrm>
            <a:off x="4672584" y="4489704"/>
            <a:ext cx="329184" cy="3291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0F766E"/>
            </a:solidFill>
            <a:prstDash val="solid"/>
          </a:ln>
        </p:spPr>
      </p:sp>
      <p:pic>
        <p:nvPicPr>
          <p:cNvPr id="49" name="Cards__EvidenceOut1__Icon" descr="Cards__EvidenceOut1__Icon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741713" y="4558833"/>
            <a:ext cx="190927" cy="190927"/>
          </a:xfrm>
          <a:prstGeom prst="rect">
            <a:avLst/>
          </a:prstGeom>
        </p:spPr>
      </p:pic>
      <p:sp>
        <p:nvSpPr>
          <p:cNvPr id="50" name="Flow__EvidenceOutLink1"/>
          <p:cNvSpPr/>
          <p:nvPr/>
        </p:nvSpPr>
        <p:spPr>
          <a:xfrm>
            <a:off x="4407408" y="4672584"/>
            <a:ext cx="201168" cy="0"/>
          </a:xfrm>
          <a:prstGeom prst="line">
            <a:avLst/>
          </a:prstGeom>
          <a:noFill/>
          <a:ln w="16510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51" name="Cards__EvidenceOut2"/>
          <p:cNvSpPr/>
          <p:nvPr/>
        </p:nvSpPr>
        <p:spPr>
          <a:xfrm>
            <a:off x="4608576" y="5349240"/>
            <a:ext cx="1645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7C3AED"/>
            </a:solidFill>
          </a:ln>
        </p:spPr>
        <p:txBody>
          <a:bodyPr wrap="square" lIns="482600" tIns="508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시정·재시험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부적합 원인 제거 후 동일 기준 재검증</a:t>
            </a:r>
            <a:endParaRPr lang="en-US" sz="1000" dirty="0"/>
          </a:p>
        </p:txBody>
      </p:sp>
      <p:sp>
        <p:nvSpPr>
          <p:cNvPr id="52" name="Cards__EvidenceOut2__Badge"/>
          <p:cNvSpPr/>
          <p:nvPr/>
        </p:nvSpPr>
        <p:spPr>
          <a:xfrm>
            <a:off x="4672584" y="5632704"/>
            <a:ext cx="329184" cy="3291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</p:spPr>
      </p:sp>
      <p:pic>
        <p:nvPicPr>
          <p:cNvPr id="53" name="Cards__EvidenceOut2__Icon" descr="Cards__EvidenceOut2__Icon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41713" y="5701833"/>
            <a:ext cx="190927" cy="190927"/>
          </a:xfrm>
          <a:prstGeom prst="rect">
            <a:avLst/>
          </a:prstGeom>
        </p:spPr>
      </p:pic>
      <p:sp>
        <p:nvSpPr>
          <p:cNvPr id="54" name="Flow__EvidenceOutLink2"/>
          <p:cNvSpPr/>
          <p:nvPr/>
        </p:nvSpPr>
        <p:spPr>
          <a:xfrm>
            <a:off x="4407408" y="5815584"/>
            <a:ext cx="201168" cy="0"/>
          </a:xfrm>
          <a:prstGeom prst="line">
            <a:avLst/>
          </a:prstGeom>
          <a:noFill/>
          <a:ln w="1651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55" name="Cards__EvidenceOut3"/>
          <p:cNvSpPr/>
          <p:nvPr/>
        </p:nvSpPr>
        <p:spPr>
          <a:xfrm>
            <a:off x="4608576" y="6492240"/>
            <a:ext cx="1645920" cy="93268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6A34A"/>
            </a:solidFill>
          </a:ln>
        </p:spPr>
        <p:txBody>
          <a:bodyPr wrap="square" lIns="482600" tIns="50800" rIns="63500" bIns="6350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승인·기준선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17203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PM·KISTI 승인 후 산출물 기준선 확정</a:t>
            </a:r>
            <a:endParaRPr lang="en-US" sz="1000" dirty="0"/>
          </a:p>
        </p:txBody>
      </p:sp>
      <p:sp>
        <p:nvSpPr>
          <p:cNvPr id="56" name="Cards__EvidenceOut3__Badge"/>
          <p:cNvSpPr/>
          <p:nvPr/>
        </p:nvSpPr>
        <p:spPr>
          <a:xfrm>
            <a:off x="4672584" y="6775704"/>
            <a:ext cx="329184" cy="329184"/>
          </a:xfrm>
          <a:prstGeom prst="ellipse">
            <a:avLst/>
          </a:prstGeom>
          <a:solidFill>
            <a:srgbClr val="FFFFFF"/>
          </a:solidFill>
          <a:ln w="10160">
            <a:solidFill>
              <a:srgbClr val="16A34A"/>
            </a:solidFill>
            <a:prstDash val="solid"/>
          </a:ln>
        </p:spPr>
      </p:sp>
      <p:pic>
        <p:nvPicPr>
          <p:cNvPr id="57" name="Cards__EvidenceOut3__Icon" descr="Cards__EvidenceOut3__Icon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741713" y="6844833"/>
            <a:ext cx="190927" cy="190927"/>
          </a:xfrm>
          <a:prstGeom prst="rect">
            <a:avLst/>
          </a:prstGeom>
        </p:spPr>
      </p:pic>
      <p:sp>
        <p:nvSpPr>
          <p:cNvPr id="58" name="Flow__EvidenceOutLink3"/>
          <p:cNvSpPr/>
          <p:nvPr/>
        </p:nvSpPr>
        <p:spPr>
          <a:xfrm>
            <a:off x="4407408" y="6958584"/>
            <a:ext cx="201168" cy="0"/>
          </a:xfrm>
          <a:prstGeom prst="line">
            <a:avLst/>
          </a:prstGeom>
          <a:noFill/>
          <a:ln w="1651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59" name="Message__Label"/>
          <p:cNvSpPr/>
          <p:nvPr/>
        </p:nvSpPr>
        <p:spPr>
          <a:xfrm>
            <a:off x="384048" y="8467344"/>
            <a:ext cx="1024128" cy="274320"/>
          </a:xfrm>
          <a:prstGeom prst="roundRect">
            <a:avLst/>
          </a:prstGeom>
          <a:solidFill>
            <a:srgbClr val="2563E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메시지</a:t>
            </a:r>
            <a:endParaRPr lang="en-US" sz="1000" dirty="0"/>
          </a:p>
        </p:txBody>
      </p:sp>
      <p:sp>
        <p:nvSpPr>
          <p:cNvPr id="60" name="Message__Band"/>
          <p:cNvSpPr/>
          <p:nvPr/>
        </p:nvSpPr>
        <p:spPr>
          <a:xfrm>
            <a:off x="384048" y="8778240"/>
            <a:ext cx="6089904" cy="566928"/>
          </a:xfrm>
          <a:prstGeom prst="roundRect">
            <a:avLst/>
          </a:prstGeom>
          <a:solidFill>
            <a:srgbClr val="0B2E5B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요구사항 추적부터 승인·기준선까지 모든 품질 판단을 검토·시험·결함 이력이라는 실행 증거로 남깁니다.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DMT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품질보증방안 및 증거 기반 Quality Gate</dc:title>
  <dc:subject>2026 KISTI 독자 파운데이션 모델 기반 공공 R&amp;D AI 시스템 개발</dc:subject>
  <dc:creator>DMT Labs</dc:creator>
  <cp:lastModifiedBy>DMT Labs</cp:lastModifiedBy>
  <cp:revision>1</cp:revision>
  <dcterms:created xsi:type="dcterms:W3CDTF">2026-07-18T12:50:57Z</dcterms:created>
  <dcterms:modified xsi:type="dcterms:W3CDTF">2026-07-18T12:50:57Z</dcterms:modified>
</cp:coreProperties>
</file>