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201168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201168" y="438912"/>
            <a:ext cx="621792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사업수행계획 부문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참여형 RAG·LLM 업무시스템 구축 경험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 기반 전문가 포털부터 AI 초안·검토·확정·데이터셋 산출까지 실제 운영 경험 보유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</a:t>
            </a:r>
            <a:endParaRPr lang="en-US" sz="1200" dirty="0"/>
          </a:p>
        </p:txBody>
      </p:sp>
      <p:sp>
        <p:nvSpPr>
          <p:cNvPr id="19" name="Flow__FlowLabel"/>
          <p:cNvSpPr/>
          <p:nvPr/>
        </p:nvSpPr>
        <p:spPr>
          <a:xfrm>
            <a:off x="384048" y="1984248"/>
            <a:ext cx="2212848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검증된 End-to-End 운영 흐름</a:t>
            </a:r>
            <a:endParaRPr lang="en-US" sz="1000" dirty="0"/>
          </a:p>
        </p:txBody>
      </p:sp>
      <p:sp>
        <p:nvSpPr>
          <p:cNvPr id="20" name="Support__FlowQualifier"/>
          <p:cNvSpPr/>
          <p:nvPr/>
        </p:nvSpPr>
        <p:spPr>
          <a:xfrm>
            <a:off x="3730752" y="1984248"/>
            <a:ext cx="2743200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참여형 Human-in-the-Loop 운영 증거</a:t>
            </a:r>
            <a:endParaRPr lang="en-US" sz="1000" dirty="0"/>
          </a:p>
        </p:txBody>
      </p:sp>
      <p:sp>
        <p:nvSpPr>
          <p:cNvPr id="21" name="Flow__WorkflowPanel"/>
          <p:cNvSpPr/>
          <p:nvPr/>
        </p:nvSpPr>
        <p:spPr>
          <a:xfrm>
            <a:off x="384048" y="2313432"/>
            <a:ext cx="6089904" cy="3044952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CFDCEC"/>
            </a:solidFill>
            <a:prstDash val="solid"/>
          </a:ln>
        </p:spPr>
      </p:sp>
      <p:sp>
        <p:nvSpPr>
          <p:cNvPr id="22" name="Flow__Arrow1"/>
          <p:cNvSpPr/>
          <p:nvPr/>
        </p:nvSpPr>
        <p:spPr>
          <a:xfrm>
            <a:off x="2011680" y="2980944"/>
            <a:ext cx="603504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3" name="Flow__Arrow2"/>
          <p:cNvSpPr/>
          <p:nvPr/>
        </p:nvSpPr>
        <p:spPr>
          <a:xfrm>
            <a:off x="4032504" y="2980944"/>
            <a:ext cx="603504" cy="0"/>
          </a:xfrm>
          <a:prstGeom prst="line">
            <a:avLst/>
          </a:prstGeom>
          <a:noFill/>
          <a:ln w="2159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4" name="Flow__Arrow3"/>
          <p:cNvSpPr/>
          <p:nvPr/>
        </p:nvSpPr>
        <p:spPr>
          <a:xfrm>
            <a:off x="5349240" y="3364992"/>
            <a:ext cx="0" cy="457200"/>
          </a:xfrm>
          <a:prstGeom prst="line">
            <a:avLst/>
          </a:prstGeom>
          <a:noFill/>
          <a:ln w="2159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5" name="Flow__Arrow4"/>
          <p:cNvSpPr/>
          <p:nvPr/>
        </p:nvSpPr>
        <p:spPr>
          <a:xfrm>
            <a:off x="4032504" y="4215384"/>
            <a:ext cx="603504" cy="0"/>
          </a:xfrm>
          <a:prstGeom prst="line">
            <a:avLst/>
          </a:prstGeom>
          <a:noFill/>
          <a:ln w="21590">
            <a:solidFill>
              <a:srgbClr val="0F766E"/>
            </a:solidFill>
            <a:prstDash val="solid"/>
            <a:headEnd type="triangle"/>
            <a:tailEnd type="none"/>
          </a:ln>
        </p:spPr>
      </p:sp>
      <p:sp>
        <p:nvSpPr>
          <p:cNvPr id="26" name="Flow__Arrow5"/>
          <p:cNvSpPr/>
          <p:nvPr/>
        </p:nvSpPr>
        <p:spPr>
          <a:xfrm>
            <a:off x="2011680" y="4215384"/>
            <a:ext cx="603504" cy="0"/>
          </a:xfrm>
          <a:prstGeom prst="line">
            <a:avLst/>
          </a:prstGeom>
          <a:noFill/>
          <a:ln w="21590">
            <a:solidFill>
              <a:srgbClr val="0F766E"/>
            </a:solidFill>
            <a:prstDash val="solid"/>
            <a:headEnd type="triangle"/>
            <a:tailEnd type="none"/>
          </a:ln>
        </p:spPr>
      </p:sp>
      <p:sp>
        <p:nvSpPr>
          <p:cNvPr id="27" name="Flow__Stage1"/>
          <p:cNvSpPr/>
          <p:nvPr/>
        </p:nvSpPr>
        <p:spPr>
          <a:xfrm>
            <a:off x="594360" y="2587752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27000" tIns="88900" rIns="88900" bIns="889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전문가 참여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역할·권한 기반 진입</a:t>
            </a:r>
            <a:endParaRPr lang="en-US" sz="1000" dirty="0"/>
          </a:p>
        </p:txBody>
      </p:sp>
      <p:sp>
        <p:nvSpPr>
          <p:cNvPr id="28" name="Flow__Stage2"/>
          <p:cNvSpPr/>
          <p:nvPr/>
        </p:nvSpPr>
        <p:spPr>
          <a:xfrm>
            <a:off x="2615184" y="2587752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txBody>
          <a:bodyPr wrap="square" lIns="127000" tIns="88900" rIns="88900" bIns="889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RAG 검색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키워드·벡터 연계</a:t>
            </a:r>
            <a:endParaRPr lang="en-US" sz="1000" dirty="0"/>
          </a:p>
        </p:txBody>
      </p:sp>
      <p:sp>
        <p:nvSpPr>
          <p:cNvPr id="29" name="Flow__Stage3"/>
          <p:cNvSpPr/>
          <p:nvPr/>
        </p:nvSpPr>
        <p:spPr>
          <a:xfrm>
            <a:off x="4636008" y="2587752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txBody>
          <a:bodyPr wrap="square" lIns="127000" tIns="88900" rIns="88900" bIns="889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AI 초안 생성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정의·검색식·분석안</a:t>
            </a:r>
            <a:endParaRPr lang="en-US" sz="1000" dirty="0"/>
          </a:p>
        </p:txBody>
      </p:sp>
      <p:sp>
        <p:nvSpPr>
          <p:cNvPr id="30" name="Flow__Stage4"/>
          <p:cNvSpPr/>
          <p:nvPr/>
        </p:nvSpPr>
        <p:spPr>
          <a:xfrm>
            <a:off x="4636008" y="3822192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27000" tIns="88900" rIns="88900" bIns="889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전문가 검토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판단·수정·보완</a:t>
            </a:r>
            <a:endParaRPr lang="en-US" sz="1000" dirty="0"/>
          </a:p>
        </p:txBody>
      </p:sp>
      <p:sp>
        <p:nvSpPr>
          <p:cNvPr id="31" name="Flow__Stage5"/>
          <p:cNvSpPr/>
          <p:nvPr/>
        </p:nvSpPr>
        <p:spPr>
          <a:xfrm>
            <a:off x="2615184" y="3822192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F766E"/>
            </a:solidFill>
          </a:ln>
        </p:spPr>
        <p:txBody>
          <a:bodyPr wrap="square" lIns="127000" tIns="88900" rIns="88900" bIns="889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결과 확정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상태·변경이력 관리</a:t>
            </a:r>
            <a:endParaRPr lang="en-US" sz="1000" dirty="0"/>
          </a:p>
        </p:txBody>
      </p:sp>
      <p:sp>
        <p:nvSpPr>
          <p:cNvPr id="32" name="Flow__Stage6"/>
          <p:cNvSpPr/>
          <p:nvPr/>
        </p:nvSpPr>
        <p:spPr>
          <a:xfrm>
            <a:off x="594360" y="3822192"/>
            <a:ext cx="141732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6A34A"/>
            </a:solidFill>
          </a:ln>
        </p:spPr>
        <p:txBody>
          <a:bodyPr wrap="square" lIns="127000" tIns="88900" rIns="88900" bIns="8890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데이터셋 산출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검증·적재·재활용</a:t>
            </a:r>
            <a:endParaRPr lang="en-US" sz="1000" dirty="0"/>
          </a:p>
        </p:txBody>
      </p:sp>
      <p:sp>
        <p:nvSpPr>
          <p:cNvPr id="33" name="Flow__Control1"/>
          <p:cNvSpPr/>
          <p:nvPr/>
        </p:nvSpPr>
        <p:spPr>
          <a:xfrm>
            <a:off x="594360" y="4855464"/>
            <a:ext cx="1700784" cy="32004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역할·권한 분리</a:t>
            </a:r>
            <a:endParaRPr lang="en-US" sz="1000" dirty="0"/>
          </a:p>
        </p:txBody>
      </p:sp>
      <p:sp>
        <p:nvSpPr>
          <p:cNvPr id="34" name="Flow__Control2"/>
          <p:cNvSpPr/>
          <p:nvPr/>
        </p:nvSpPr>
        <p:spPr>
          <a:xfrm>
            <a:off x="2450592" y="4855464"/>
            <a:ext cx="1700784" cy="320040"/>
          </a:xfrm>
          <a:prstGeom prst="roundRect">
            <a:avLst/>
          </a:prstGeom>
          <a:solidFill>
            <a:srgbClr val="F3E8FF"/>
          </a:solidFill>
          <a:ln w="10160">
            <a:solidFill>
              <a:srgbClr val="7C3AE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초안 + 전문가 확정</a:t>
            </a:r>
            <a:endParaRPr lang="en-US" sz="1000" dirty="0"/>
          </a:p>
        </p:txBody>
      </p:sp>
      <p:sp>
        <p:nvSpPr>
          <p:cNvPr id="35" name="Flow__Control3"/>
          <p:cNvSpPr/>
          <p:nvPr/>
        </p:nvSpPr>
        <p:spPr>
          <a:xfrm>
            <a:off x="4306824" y="4855464"/>
            <a:ext cx="1700784" cy="320040"/>
          </a:xfrm>
          <a:prstGeom prst="roundRect">
            <a:avLst/>
          </a:prstGeom>
          <a:solidFill>
            <a:srgbClr val="ECFDF5"/>
          </a:solidFill>
          <a:ln w="10160">
            <a:solidFill>
              <a:srgbClr val="0F76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검토·변경이력</a:t>
            </a:r>
            <a:endParaRPr lang="en-US" sz="1000" dirty="0"/>
          </a:p>
        </p:txBody>
      </p:sp>
      <p:sp>
        <p:nvSpPr>
          <p:cNvPr id="36" name="Support__EvidenceLabel"/>
          <p:cNvSpPr/>
          <p:nvPr/>
        </p:nvSpPr>
        <p:spPr>
          <a:xfrm>
            <a:off x="384048" y="5577840"/>
            <a:ext cx="1609344" cy="274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CEC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운영 화면 증거</a:t>
            </a:r>
            <a:endParaRPr lang="en-US" sz="1000" dirty="0"/>
          </a:p>
        </p:txBody>
      </p:sp>
      <p:sp>
        <p:nvSpPr>
          <p:cNvPr id="37" name="Support__EvidenceQualifier"/>
          <p:cNvSpPr/>
          <p:nvPr/>
        </p:nvSpPr>
        <p:spPr>
          <a:xfrm>
            <a:off x="2971800" y="5577840"/>
            <a:ext cx="350215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업무포털과 RAG 분석 화면을 통해 구현·운영 사실을 확인</a:t>
            </a:r>
            <a:endParaRPr lang="en-US" sz="1000" dirty="0"/>
          </a:p>
        </p:txBody>
      </p:sp>
      <p:sp>
        <p:nvSpPr>
          <p:cNvPr id="38" name="Support__ExpertDashboardPanel"/>
          <p:cNvSpPr/>
          <p:nvPr/>
        </p:nvSpPr>
        <p:spPr>
          <a:xfrm>
            <a:off x="384048" y="5925312"/>
            <a:ext cx="2944368" cy="23134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CEC"/>
            </a:solidFill>
            <a:prstDash val="solid"/>
          </a:ln>
        </p:spPr>
      </p:sp>
      <p:sp>
        <p:nvSpPr>
          <p:cNvPr id="39" name="Support__ExpertDashboardTitle"/>
          <p:cNvSpPr/>
          <p:nvPr/>
        </p:nvSpPr>
        <p:spPr>
          <a:xfrm>
            <a:off x="502920" y="6044184"/>
            <a:ext cx="2706624" cy="292608"/>
          </a:xfrm>
          <a:prstGeom prst="roundRect">
            <a:avLst/>
          </a:prstGeom>
          <a:solidFill>
            <a:srgbClr val="EFF6FF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전문가 대시보드 · 자문 시작</a:t>
            </a:r>
            <a:endParaRPr lang="en-US" sz="1000" dirty="0"/>
          </a:p>
        </p:txBody>
      </p:sp>
      <p:pic>
        <p:nvPicPr>
          <p:cNvPr id="40" name="Support__ExpertDashboardImage" descr="전문가 참여 시스템 대시보드와 1차 자문 시작 화면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" y="6492240"/>
            <a:ext cx="2788920" cy="1545336"/>
          </a:xfrm>
          <a:prstGeom prst="rect">
            <a:avLst/>
          </a:prstGeom>
        </p:spPr>
      </p:pic>
      <p:sp>
        <p:nvSpPr>
          <p:cNvPr id="41" name="Support__RagReviewPanel"/>
          <p:cNvSpPr/>
          <p:nvPr/>
        </p:nvSpPr>
        <p:spPr>
          <a:xfrm>
            <a:off x="3529584" y="5925312"/>
            <a:ext cx="2944368" cy="23134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CEC"/>
            </a:solidFill>
            <a:prstDash val="solid"/>
          </a:ln>
        </p:spPr>
      </p:sp>
      <p:sp>
        <p:nvSpPr>
          <p:cNvPr id="42" name="Support__RagReviewTitle"/>
          <p:cNvSpPr/>
          <p:nvPr/>
        </p:nvSpPr>
        <p:spPr>
          <a:xfrm>
            <a:off x="3648456" y="6044184"/>
            <a:ext cx="2706624" cy="292608"/>
          </a:xfrm>
          <a:prstGeom prst="roundRect">
            <a:avLst/>
          </a:prstGeom>
          <a:solidFill>
            <a:srgbClr val="ECFDF5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RAG 초안 · 관련 논문 선택</a:t>
            </a:r>
            <a:endParaRPr lang="en-US" sz="1000" dirty="0"/>
          </a:p>
        </p:txBody>
      </p:sp>
      <p:pic>
        <p:nvPicPr>
          <p:cNvPr id="43" name="Support__RagReviewImage" descr="RAG 기반 설명 초안과 관련 논문 선택 화면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6693408"/>
            <a:ext cx="2779776" cy="1325880"/>
          </a:xfrm>
          <a:prstGeom prst="rect">
            <a:avLst/>
          </a:prstGeom>
        </p:spPr>
      </p:pic>
      <p:sp>
        <p:nvSpPr>
          <p:cNvPr id="44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45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전문가 참여부터 RAG·LLM 분석·검수·데이터셋 확정까지 End-to-End 업무시스템 구축·운영 경험 보유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I.1.3 전문가 참여형 RAG·LLM 업무시스템 구축 경험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2026-07-18T14:35:37Z</dcterms:created>
  <dcterms:modified xsi:type="dcterms:W3CDTF">2026-07-18T14:35:37Z</dcterms:modified>
</cp:coreProperties>
</file>