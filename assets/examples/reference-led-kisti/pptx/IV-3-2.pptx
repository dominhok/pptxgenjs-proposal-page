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운영지원 · 장애대응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장애처리절차 및 등급별 지원방안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접수부터 사후조치까지 8단계 처리흐름과 L1~L4 등급·복구/출동 SLA를 결합한 운영지원 체계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200" dirty="0"/>
          </a:p>
        </p:txBody>
      </p:sp>
      <p:sp>
        <p:nvSpPr>
          <p:cNvPr id="19" name="Flow__ProcessPanel"/>
          <p:cNvSpPr/>
          <p:nvPr/>
        </p:nvSpPr>
        <p:spPr>
          <a:xfrm>
            <a:off x="384048" y="2029968"/>
            <a:ext cx="3767328" cy="6144768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CFDCEC"/>
            </a:solidFill>
            <a:prstDash val="solid"/>
          </a:ln>
        </p:spPr>
      </p:sp>
      <p:sp>
        <p:nvSpPr>
          <p:cNvPr id="20" name="Flow__IncidentLabel"/>
          <p:cNvSpPr/>
          <p:nvPr/>
        </p:nvSpPr>
        <p:spPr>
          <a:xfrm>
            <a:off x="585216" y="2231136"/>
            <a:ext cx="1517904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8-Step Incident Route</a:t>
            </a:r>
            <a:endParaRPr lang="en-US" sz="1000" dirty="0"/>
          </a:p>
        </p:txBody>
      </p:sp>
      <p:sp>
        <p:nvSpPr>
          <p:cNvPr id="21" name="Flow__IncidentStep1"/>
          <p:cNvSpPr/>
          <p:nvPr/>
        </p:nvSpPr>
        <p:spPr>
          <a:xfrm>
            <a:off x="603504" y="2706624"/>
            <a:ext cx="1444752" cy="7132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접수</a:t>
            </a:r>
            <a:endParaRPr lang="en-US" sz="1100" dirty="0"/>
          </a:p>
        </p:txBody>
      </p:sp>
      <p:sp>
        <p:nvSpPr>
          <p:cNvPr id="22" name="Flow__Arrow1"/>
          <p:cNvSpPr/>
          <p:nvPr/>
        </p:nvSpPr>
        <p:spPr>
          <a:xfrm>
            <a:off x="2084832" y="2990088"/>
            <a:ext cx="237744" cy="13716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Flow__IncidentStep2"/>
          <p:cNvSpPr/>
          <p:nvPr/>
        </p:nvSpPr>
        <p:spPr>
          <a:xfrm>
            <a:off x="2359152" y="2706624"/>
            <a:ext cx="1444752" cy="71323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분류</a:t>
            </a:r>
            <a:endParaRPr lang="en-US" sz="1100" dirty="0"/>
          </a:p>
        </p:txBody>
      </p:sp>
      <p:sp>
        <p:nvSpPr>
          <p:cNvPr id="24" name="Flow__RouteLink2"/>
          <p:cNvSpPr/>
          <p:nvPr/>
        </p:nvSpPr>
        <p:spPr>
          <a:xfrm>
            <a:off x="3081528" y="3419856"/>
            <a:ext cx="0" cy="38404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Flow__IncidentStep3"/>
          <p:cNvSpPr/>
          <p:nvPr/>
        </p:nvSpPr>
        <p:spPr>
          <a:xfrm>
            <a:off x="2359152" y="3803904"/>
            <a:ext cx="1444752" cy="713232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초동조치</a:t>
            </a:r>
            <a:endParaRPr lang="en-US" sz="1100" dirty="0"/>
          </a:p>
        </p:txBody>
      </p:sp>
      <p:sp>
        <p:nvSpPr>
          <p:cNvPr id="26" name="Flow__Arrow3"/>
          <p:cNvSpPr/>
          <p:nvPr/>
        </p:nvSpPr>
        <p:spPr>
          <a:xfrm>
            <a:off x="2084832" y="4087368"/>
            <a:ext cx="237744" cy="13716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Flow__IncidentStep4"/>
          <p:cNvSpPr/>
          <p:nvPr/>
        </p:nvSpPr>
        <p:spPr>
          <a:xfrm>
            <a:off x="603504" y="3803904"/>
            <a:ext cx="1444752" cy="713232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원인분석</a:t>
            </a:r>
            <a:endParaRPr lang="en-US" sz="1100" dirty="0"/>
          </a:p>
        </p:txBody>
      </p:sp>
      <p:sp>
        <p:nvSpPr>
          <p:cNvPr id="28" name="Flow__RouteLink4"/>
          <p:cNvSpPr/>
          <p:nvPr/>
        </p:nvSpPr>
        <p:spPr>
          <a:xfrm>
            <a:off x="1325880" y="4517136"/>
            <a:ext cx="0" cy="38404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Flow__IncidentStep5"/>
          <p:cNvSpPr/>
          <p:nvPr/>
        </p:nvSpPr>
        <p:spPr>
          <a:xfrm>
            <a:off x="603504" y="4901184"/>
            <a:ext cx="1444752" cy="71323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근본조치</a:t>
            </a:r>
            <a:endParaRPr lang="en-US" sz="1100" dirty="0"/>
          </a:p>
        </p:txBody>
      </p:sp>
      <p:sp>
        <p:nvSpPr>
          <p:cNvPr id="30" name="Flow__Arrow5"/>
          <p:cNvSpPr/>
          <p:nvPr/>
        </p:nvSpPr>
        <p:spPr>
          <a:xfrm>
            <a:off x="2084832" y="5184648"/>
            <a:ext cx="237744" cy="13716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Flow__IncidentStep6"/>
          <p:cNvSpPr/>
          <p:nvPr/>
        </p:nvSpPr>
        <p:spPr>
          <a:xfrm>
            <a:off x="2359152" y="4901184"/>
            <a:ext cx="1444752" cy="71323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시험·배포</a:t>
            </a:r>
            <a:endParaRPr lang="en-US" sz="1100" dirty="0"/>
          </a:p>
        </p:txBody>
      </p:sp>
      <p:sp>
        <p:nvSpPr>
          <p:cNvPr id="32" name="Flow__RouteLink6"/>
          <p:cNvSpPr/>
          <p:nvPr/>
        </p:nvSpPr>
        <p:spPr>
          <a:xfrm>
            <a:off x="3081528" y="5614416"/>
            <a:ext cx="0" cy="38404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3" name="Flow__IncidentStep7"/>
          <p:cNvSpPr/>
          <p:nvPr/>
        </p:nvSpPr>
        <p:spPr>
          <a:xfrm>
            <a:off x="2359152" y="5998464"/>
            <a:ext cx="1444752" cy="713232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완료확인</a:t>
            </a:r>
            <a:endParaRPr lang="en-US" sz="1100" dirty="0"/>
          </a:p>
        </p:txBody>
      </p:sp>
      <p:sp>
        <p:nvSpPr>
          <p:cNvPr id="34" name="Flow__Arrow7"/>
          <p:cNvSpPr/>
          <p:nvPr/>
        </p:nvSpPr>
        <p:spPr>
          <a:xfrm>
            <a:off x="2084832" y="6281928"/>
            <a:ext cx="237744" cy="13716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Flow__IncidentStep8"/>
          <p:cNvSpPr/>
          <p:nvPr/>
        </p:nvSpPr>
        <p:spPr>
          <a:xfrm>
            <a:off x="603504" y="5998464"/>
            <a:ext cx="1444752" cy="713232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사후조치</a:t>
            </a:r>
            <a:endParaRPr lang="en-US" sz="1100" dirty="0"/>
          </a:p>
        </p:txBody>
      </p:sp>
      <p:sp>
        <p:nvSpPr>
          <p:cNvPr id="36" name="Support__SecurityRule"/>
          <p:cNvSpPr/>
          <p:nvPr/>
        </p:nvSpPr>
        <p:spPr>
          <a:xfrm>
            <a:off x="603504" y="7187184"/>
            <a:ext cx="3328416" cy="493776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C262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보안사고는 등급과 무관하게 즉시 보고·확산 통제</a:t>
            </a:r>
            <a:endParaRPr lang="en-US" sz="1000" dirty="0"/>
          </a:p>
        </p:txBody>
      </p:sp>
      <p:sp>
        <p:nvSpPr>
          <p:cNvPr id="37" name="Cards__SupportPanel"/>
          <p:cNvSpPr/>
          <p:nvPr/>
        </p:nvSpPr>
        <p:spPr>
          <a:xfrm>
            <a:off x="4352544" y="2029968"/>
            <a:ext cx="2121408" cy="61447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B2E5B"/>
            </a:solidFill>
            <a:prstDash val="solid"/>
          </a:ln>
        </p:spPr>
      </p:sp>
      <p:sp>
        <p:nvSpPr>
          <p:cNvPr id="38" name="Cards__SupportTitle"/>
          <p:cNvSpPr/>
          <p:nvPr/>
        </p:nvSpPr>
        <p:spPr>
          <a:xfrm>
            <a:off x="4617720" y="2267712"/>
            <a:ext cx="1591056" cy="347472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등급별 지원</a:t>
            </a:r>
            <a:endParaRPr lang="en-US" sz="1100" dirty="0"/>
          </a:p>
        </p:txBody>
      </p:sp>
      <p:sp>
        <p:nvSpPr>
          <p:cNvPr id="39" name="Cards__Level1"/>
          <p:cNvSpPr/>
          <p:nvPr/>
        </p:nvSpPr>
        <p:spPr>
          <a:xfrm>
            <a:off x="4617720" y="2852928"/>
            <a:ext cx="1591056" cy="420624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  긴급</a:t>
            </a:r>
            <a:endParaRPr lang="en-US" sz="1000" dirty="0"/>
          </a:p>
        </p:txBody>
      </p:sp>
      <p:sp>
        <p:nvSpPr>
          <p:cNvPr id="40" name="Cards__Level2"/>
          <p:cNvSpPr/>
          <p:nvPr/>
        </p:nvSpPr>
        <p:spPr>
          <a:xfrm>
            <a:off x="4617720" y="3419856"/>
            <a:ext cx="1591056" cy="420624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  중대</a:t>
            </a:r>
            <a:endParaRPr lang="en-US" sz="1000" dirty="0"/>
          </a:p>
        </p:txBody>
      </p:sp>
      <p:sp>
        <p:nvSpPr>
          <p:cNvPr id="41" name="Cards__Level3"/>
          <p:cNvSpPr/>
          <p:nvPr/>
        </p:nvSpPr>
        <p:spPr>
          <a:xfrm>
            <a:off x="4617720" y="3986784"/>
            <a:ext cx="1591056" cy="42062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  일반</a:t>
            </a:r>
            <a:endParaRPr lang="en-US" sz="1000" dirty="0"/>
          </a:p>
        </p:txBody>
      </p:sp>
      <p:sp>
        <p:nvSpPr>
          <p:cNvPr id="42" name="Cards__Level4"/>
          <p:cNvSpPr/>
          <p:nvPr/>
        </p:nvSpPr>
        <p:spPr>
          <a:xfrm>
            <a:off x="4617720" y="4553712"/>
            <a:ext cx="1591056" cy="42062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  문의</a:t>
            </a:r>
            <a:endParaRPr lang="en-US" sz="1000" dirty="0"/>
          </a:p>
        </p:txBody>
      </p:sp>
      <p:sp>
        <p:nvSpPr>
          <p:cNvPr id="43" name="Cards__SLA1"/>
          <p:cNvSpPr/>
          <p:nvPr/>
        </p:nvSpPr>
        <p:spPr>
          <a:xfrm>
            <a:off x="4617720" y="5285232"/>
            <a:ext cx="1591056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546100" tIns="50800" rIns="508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복구 목표</a:t>
            </a:r>
            <a:endParaRPr lang="en-US" sz="1000" dirty="0"/>
          </a:p>
        </p:txBody>
      </p:sp>
      <p:sp>
        <p:nvSpPr>
          <p:cNvPr id="44" name="Cards__SLA1__Badge"/>
          <p:cNvSpPr/>
          <p:nvPr/>
        </p:nvSpPr>
        <p:spPr>
          <a:xfrm>
            <a:off x="4690872" y="5468112"/>
            <a:ext cx="347472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45" name="Cards__SLA1__Icon" descr="Cards__SLA1__Ic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3841" y="5541081"/>
            <a:ext cx="201534" cy="201534"/>
          </a:xfrm>
          <a:prstGeom prst="rect">
            <a:avLst/>
          </a:prstGeom>
        </p:spPr>
      </p:pic>
      <p:sp>
        <p:nvSpPr>
          <p:cNvPr id="46" name="Cards__SLA2"/>
          <p:cNvSpPr/>
          <p:nvPr/>
        </p:nvSpPr>
        <p:spPr>
          <a:xfrm>
            <a:off x="4617720" y="6144768"/>
            <a:ext cx="1591056" cy="713232"/>
          </a:xfrm>
          <a:prstGeom prst="roundRect">
            <a:avLst/>
          </a:prstGeom>
          <a:solidFill>
            <a:srgbClr val="F3E8FF"/>
          </a:solidFill>
          <a:ln w="10160">
            <a:solidFill>
              <a:srgbClr val="7C3AED"/>
            </a:solidFill>
          </a:ln>
        </p:spPr>
        <p:txBody>
          <a:bodyPr wrap="square" lIns="546100" tIns="50800" rIns="508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시 출동</a:t>
            </a:r>
            <a:endParaRPr lang="en-US" sz="1000" dirty="0"/>
          </a:p>
        </p:txBody>
      </p:sp>
      <p:sp>
        <p:nvSpPr>
          <p:cNvPr id="47" name="Cards__SLA2__Badge"/>
          <p:cNvSpPr/>
          <p:nvPr/>
        </p:nvSpPr>
        <p:spPr>
          <a:xfrm>
            <a:off x="4690872" y="6327648"/>
            <a:ext cx="347472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48" name="Cards__SLA2__Icon" descr="Cards__SLA2__Ic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841" y="6400617"/>
            <a:ext cx="201534" cy="201534"/>
          </a:xfrm>
          <a:prstGeom prst="rect">
            <a:avLst/>
          </a:prstGeom>
        </p:spPr>
      </p:pic>
      <p:sp>
        <p:nvSpPr>
          <p:cNvPr id="49" name="Cards__SLA3"/>
          <p:cNvSpPr/>
          <p:nvPr/>
        </p:nvSpPr>
        <p:spPr>
          <a:xfrm>
            <a:off x="4617720" y="7004304"/>
            <a:ext cx="1591056" cy="7132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wrap="square" lIns="546100" tIns="50800" rIns="508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조치 목표</a:t>
            </a:r>
            <a:endParaRPr lang="en-US" sz="1000" dirty="0"/>
          </a:p>
        </p:txBody>
      </p:sp>
      <p:sp>
        <p:nvSpPr>
          <p:cNvPr id="50" name="Cards__SLA3__Badge"/>
          <p:cNvSpPr/>
          <p:nvPr/>
        </p:nvSpPr>
        <p:spPr>
          <a:xfrm>
            <a:off x="4690872" y="7187184"/>
            <a:ext cx="347472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51" name="Cards__SLA3__Icon" descr="Cards__SLA3__Ic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3841" y="7260153"/>
            <a:ext cx="201534" cy="201534"/>
          </a:xfrm>
          <a:prstGeom prst="rect">
            <a:avLst/>
          </a:prstGeom>
        </p:spPr>
      </p:pic>
      <p:sp>
        <p:nvSpPr>
          <p:cNvPr id="52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53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등급별 대응속도를 명확히 하고, 보안사고는 즉시 보고하며 복구·출동·현장조치 이력을 추적합니다.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장애처리절차 및 등급별 지원방안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