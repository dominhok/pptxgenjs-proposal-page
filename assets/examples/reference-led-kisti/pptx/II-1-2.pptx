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91440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91440" y="438912"/>
            <a:ext cx="731520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II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및 기능 · 설계원칙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설계원칙 및 서비스 경계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 응집도와 변경주기를 기준으로 실용적인 서비스 경계를 정의하고 연계 계약을 표준화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Flow__ChainLabel"/>
          <p:cNvSpPr/>
          <p:nvPr/>
        </p:nvSpPr>
        <p:spPr>
          <a:xfrm>
            <a:off x="384048" y="1993392"/>
            <a:ext cx="1444752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 Service Chain</a:t>
            </a:r>
            <a:endParaRPr lang="en-US" sz="1000" dirty="0"/>
          </a:p>
        </p:txBody>
      </p:sp>
      <p:sp>
        <p:nvSpPr>
          <p:cNvPr id="20" name="Flow__Stage1"/>
          <p:cNvSpPr/>
          <p:nvPr/>
        </p:nvSpPr>
        <p:spPr>
          <a:xfrm>
            <a:off x="402336" y="2395728"/>
            <a:ext cx="1024128" cy="64008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</a:t>
            </a:r>
            <a:endParaRPr lang="en-US" sz="1000" dirty="0"/>
          </a:p>
        </p:txBody>
      </p:sp>
      <p:pic>
        <p:nvPicPr>
          <p:cNvPr id="21" name="Flow__StageNo1" descr="Flow__StageNo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344" y="2286000"/>
            <a:ext cx="274320" cy="274320"/>
          </a:xfrm>
          <a:prstGeom prst="rect">
            <a:avLst/>
          </a:prstGeom>
        </p:spPr>
      </p:pic>
      <p:sp>
        <p:nvSpPr>
          <p:cNvPr id="22" name="Flow__Arrow1"/>
          <p:cNvSpPr/>
          <p:nvPr/>
        </p:nvSpPr>
        <p:spPr>
          <a:xfrm>
            <a:off x="1444752" y="2642616"/>
            <a:ext cx="155448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Flow__Stage2"/>
          <p:cNvSpPr/>
          <p:nvPr/>
        </p:nvSpPr>
        <p:spPr>
          <a:xfrm>
            <a:off x="1627632" y="2395728"/>
            <a:ext cx="1024128" cy="640080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Meeting</a:t>
            </a:r>
            <a:endParaRPr lang="en-US" sz="1000" dirty="0"/>
          </a:p>
        </p:txBody>
      </p:sp>
      <p:pic>
        <p:nvPicPr>
          <p:cNvPr id="24" name="Flow__StageNo2" descr="Flow__StageNo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1640" y="2286000"/>
            <a:ext cx="274320" cy="274320"/>
          </a:xfrm>
          <a:prstGeom prst="rect">
            <a:avLst/>
          </a:prstGeom>
        </p:spPr>
      </p:pic>
      <p:sp>
        <p:nvSpPr>
          <p:cNvPr id="25" name="Flow__Arrow2"/>
          <p:cNvSpPr/>
          <p:nvPr/>
        </p:nvSpPr>
        <p:spPr>
          <a:xfrm>
            <a:off x="2670048" y="2642616"/>
            <a:ext cx="155448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Flow__Stage3"/>
          <p:cNvSpPr/>
          <p:nvPr/>
        </p:nvSpPr>
        <p:spPr>
          <a:xfrm>
            <a:off x="2852928" y="2395728"/>
            <a:ext cx="1024128" cy="640080"/>
          </a:xfrm>
          <a:prstGeom prst="roundRect">
            <a:avLst/>
          </a:prstGeom>
          <a:solidFill>
            <a:srgbClr val="FFF7E6"/>
          </a:solidFill>
          <a:ln w="11430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ETL</a:t>
            </a:r>
            <a:endParaRPr lang="en-US" sz="1000" dirty="0"/>
          </a:p>
        </p:txBody>
      </p:sp>
      <p:pic>
        <p:nvPicPr>
          <p:cNvPr id="27" name="Flow__StageNo3" descr="Flow__StageNo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6936" y="2286000"/>
            <a:ext cx="274320" cy="274320"/>
          </a:xfrm>
          <a:prstGeom prst="rect">
            <a:avLst/>
          </a:prstGeom>
        </p:spPr>
      </p:pic>
      <p:sp>
        <p:nvSpPr>
          <p:cNvPr id="28" name="Flow__Arrow3"/>
          <p:cNvSpPr/>
          <p:nvPr/>
        </p:nvSpPr>
        <p:spPr>
          <a:xfrm>
            <a:off x="3895344" y="2642616"/>
            <a:ext cx="155448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Flow__Stage4"/>
          <p:cNvSpPr/>
          <p:nvPr/>
        </p:nvSpPr>
        <p:spPr>
          <a:xfrm>
            <a:off x="4078224" y="2395728"/>
            <a:ext cx="1024128" cy="640080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</a:t>
            </a:r>
            <a:endParaRPr lang="en-US" sz="1000" dirty="0"/>
          </a:p>
        </p:txBody>
      </p:sp>
      <p:pic>
        <p:nvPicPr>
          <p:cNvPr id="30" name="Flow__StageNo4" descr="Flow__StageNo4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42232" y="2286000"/>
            <a:ext cx="274320" cy="274320"/>
          </a:xfrm>
          <a:prstGeom prst="rect">
            <a:avLst/>
          </a:prstGeom>
        </p:spPr>
      </p:pic>
      <p:sp>
        <p:nvSpPr>
          <p:cNvPr id="31" name="Flow__Arrow4"/>
          <p:cNvSpPr/>
          <p:nvPr/>
        </p:nvSpPr>
        <p:spPr>
          <a:xfrm>
            <a:off x="5120640" y="2642616"/>
            <a:ext cx="155448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Flow__Stage5"/>
          <p:cNvSpPr/>
          <p:nvPr/>
        </p:nvSpPr>
        <p:spPr>
          <a:xfrm>
            <a:off x="5303520" y="2395728"/>
            <a:ext cx="1024128" cy="640080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Gateway</a:t>
            </a:r>
            <a:endParaRPr lang="en-US" sz="1000" dirty="0"/>
          </a:p>
        </p:txBody>
      </p:sp>
      <p:pic>
        <p:nvPicPr>
          <p:cNvPr id="33" name="Flow__StageNo5" descr="Flow__StageNo5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67528" y="2286000"/>
            <a:ext cx="274320" cy="274320"/>
          </a:xfrm>
          <a:prstGeom prst="rect">
            <a:avLst/>
          </a:prstGeom>
        </p:spPr>
      </p:pic>
      <p:sp>
        <p:nvSpPr>
          <p:cNvPr id="34" name="Flow__BoundaryFrame"/>
          <p:cNvSpPr/>
          <p:nvPr/>
        </p:nvSpPr>
        <p:spPr>
          <a:xfrm>
            <a:off x="384048" y="3255264"/>
            <a:ext cx="6089904" cy="4919472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CFDCEC"/>
            </a:solidFill>
            <a:prstDash val="solid"/>
          </a:ln>
        </p:spPr>
      </p:sp>
      <p:sp>
        <p:nvSpPr>
          <p:cNvPr id="35" name="Flow__BoundaryHub"/>
          <p:cNvSpPr/>
          <p:nvPr/>
        </p:nvSpPr>
        <p:spPr>
          <a:xfrm>
            <a:off x="1984248" y="3465576"/>
            <a:ext cx="2889504" cy="603504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실용적 서비스 경계</a:t>
            </a:r>
            <a:endParaRPr lang="en-US" sz="1400" dirty="0"/>
          </a:p>
        </p:txBody>
      </p:sp>
      <p:sp>
        <p:nvSpPr>
          <p:cNvPr id="36" name="Flow__DataBoundary"/>
          <p:cNvSpPr/>
          <p:nvPr/>
        </p:nvSpPr>
        <p:spPr>
          <a:xfrm>
            <a:off x="1444752" y="4114800"/>
            <a:ext cx="2011680" cy="283464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MySQL · 5개 Schema</a:t>
            </a:r>
            <a:endParaRPr lang="en-US" sz="1000" dirty="0"/>
          </a:p>
        </p:txBody>
      </p:sp>
      <p:sp>
        <p:nvSpPr>
          <p:cNvPr id="37" name="Flow__ContractBoundary"/>
          <p:cNvSpPr/>
          <p:nvPr/>
        </p:nvSpPr>
        <p:spPr>
          <a:xfrm>
            <a:off x="3602736" y="4114800"/>
            <a:ext cx="1810512" cy="28346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동기 · Kafka 비동기</a:t>
            </a:r>
            <a:endParaRPr lang="en-US" sz="1000" dirty="0"/>
          </a:p>
        </p:txBody>
      </p:sp>
      <p:sp>
        <p:nvSpPr>
          <p:cNvPr id="38" name="Cards__Principle1"/>
          <p:cNvSpPr/>
          <p:nvPr/>
        </p:nvSpPr>
        <p:spPr>
          <a:xfrm>
            <a:off x="594360" y="4709160"/>
            <a:ext cx="2670048" cy="13898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563EB"/>
            </a:solidFill>
          </a:ln>
        </p:spPr>
        <p:txBody>
          <a:bodyPr wrap="square" lIns="5969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책임 응집도 우선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책임·변경주기·장애영향을 기준으로 서비스를 분리</a:t>
            </a:r>
            <a:endParaRPr lang="en-US" sz="1000" dirty="0"/>
          </a:p>
        </p:txBody>
      </p:sp>
      <p:sp>
        <p:nvSpPr>
          <p:cNvPr id="39" name="Cards__Principle1__Badge"/>
          <p:cNvSpPr/>
          <p:nvPr/>
        </p:nvSpPr>
        <p:spPr>
          <a:xfrm>
            <a:off x="713232" y="5148072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40" name="Cards__Principle1__Icon" descr="Cards__Principle1__Ic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5404" y="5240244"/>
            <a:ext cx="254569" cy="254569"/>
          </a:xfrm>
          <a:prstGeom prst="rect">
            <a:avLst/>
          </a:prstGeom>
        </p:spPr>
      </p:pic>
      <p:sp>
        <p:nvSpPr>
          <p:cNvPr id="41" name="Cards__Principle2"/>
          <p:cNvSpPr/>
          <p:nvPr/>
        </p:nvSpPr>
        <p:spPr>
          <a:xfrm>
            <a:off x="3502152" y="4709160"/>
            <a:ext cx="2670048" cy="13898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</p:spPr>
        <p:txBody>
          <a:bodyPr wrap="square" lIns="5969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과도한 분산 방지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Microservice와 DB 계층 분리는 지양</a:t>
            </a:r>
            <a:endParaRPr lang="en-US" sz="1000" dirty="0"/>
          </a:p>
        </p:txBody>
      </p:sp>
      <p:sp>
        <p:nvSpPr>
          <p:cNvPr id="42" name="Cards__Principle2__Badge"/>
          <p:cNvSpPr/>
          <p:nvPr/>
        </p:nvSpPr>
        <p:spPr>
          <a:xfrm>
            <a:off x="3621024" y="5148072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43" name="Cards__Principle2__Icon" descr="Cards__Principle2__Ic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13196" y="5240244"/>
            <a:ext cx="254569" cy="254569"/>
          </a:xfrm>
          <a:prstGeom prst="rect">
            <a:avLst/>
          </a:prstGeom>
        </p:spPr>
      </p:pic>
      <p:sp>
        <p:nvSpPr>
          <p:cNvPr id="44" name="Cards__Principle3"/>
          <p:cNvSpPr/>
          <p:nvPr/>
        </p:nvSpPr>
        <p:spPr>
          <a:xfrm>
            <a:off x="594360" y="6419088"/>
            <a:ext cx="2670048" cy="13898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766E"/>
            </a:solidFill>
          </a:ln>
        </p:spPr>
        <p:txBody>
          <a:bodyPr wrap="square" lIns="5969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계약 기반 연계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 REST / 비동기 Kafka, 공통 /api/v1 규약 적용</a:t>
            </a:r>
            <a:endParaRPr lang="en-US" sz="1000" dirty="0"/>
          </a:p>
        </p:txBody>
      </p:sp>
      <p:sp>
        <p:nvSpPr>
          <p:cNvPr id="45" name="Cards__Principle3__Badge"/>
          <p:cNvSpPr/>
          <p:nvPr/>
        </p:nvSpPr>
        <p:spPr>
          <a:xfrm>
            <a:off x="713232" y="6858000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46" name="Cards__Principle3__Icon" descr="Cards__Principle3__Icon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5404" y="6950172"/>
            <a:ext cx="254569" cy="254569"/>
          </a:xfrm>
          <a:prstGeom prst="rect">
            <a:avLst/>
          </a:prstGeom>
        </p:spPr>
      </p:pic>
      <p:sp>
        <p:nvSpPr>
          <p:cNvPr id="47" name="Cards__Principle4"/>
          <p:cNvSpPr/>
          <p:nvPr/>
        </p:nvSpPr>
        <p:spPr>
          <a:xfrm>
            <a:off x="3502152" y="6419088"/>
            <a:ext cx="2670048" cy="13898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59E0B"/>
            </a:solidFill>
          </a:ln>
        </p:spPr>
        <p:txBody>
          <a:bodyPr wrap="square" lIns="596900" tIns="1016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작업 단위 추적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Job ID로 상태·결과·오류를 서비스 사이에서 일관 관리</a:t>
            </a:r>
            <a:endParaRPr lang="en-US" sz="1000" dirty="0"/>
          </a:p>
        </p:txBody>
      </p:sp>
      <p:sp>
        <p:nvSpPr>
          <p:cNvPr id="48" name="Cards__Principle4__Badge"/>
          <p:cNvSpPr/>
          <p:nvPr/>
        </p:nvSpPr>
        <p:spPr>
          <a:xfrm>
            <a:off x="3621024" y="6858000"/>
            <a:ext cx="438912" cy="43891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49" name="Cards__Principle4__Icon" descr="Cards__Principle4__Icon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13196" y="6950172"/>
            <a:ext cx="254569" cy="254569"/>
          </a:xfrm>
          <a:prstGeom prst="rect">
            <a:avLst/>
          </a:prstGeom>
        </p:spPr>
      </p:pic>
      <p:sp>
        <p:nvSpPr>
          <p:cNvPr id="50" name="Support__DecisionRule"/>
          <p:cNvSpPr/>
          <p:nvPr/>
        </p:nvSpPr>
        <p:spPr>
          <a:xfrm>
            <a:off x="1170432" y="7818120"/>
            <a:ext cx="4517136" cy="283464"/>
          </a:xfrm>
          <a:prstGeom prst="roundRect">
            <a:avLst/>
          </a:prstGeom>
          <a:solidFill>
            <a:srgbClr val="E9F9FC"/>
          </a:solidFill>
          <a:ln w="10160">
            <a:solidFill>
              <a:srgbClr val="17B7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경계는 배포 편의가 아니라 책임·변경·장애영향을 기준으로 판단</a:t>
            </a:r>
            <a:endParaRPr lang="en-US" sz="1000" dirty="0"/>
          </a:p>
        </p:txBody>
      </p:sp>
      <p:sp>
        <p:nvSpPr>
          <p:cNvPr id="51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52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서비스는 응집도 기준으로 분리하고 데이터·호출·추적 규약은 공통 계약으로 통제합니다.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설계원칙 및 서비스 경계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2026-07-18T12:50:57Z</dcterms:created>
  <dcterms:modified xsi:type="dcterms:W3CDTF">2026-07-18T12:50:57Z</dcterms:modified>
</cp:coreProperties>
</file>