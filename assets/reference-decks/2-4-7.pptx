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1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3" /><Relationship Type="http://schemas.openxmlformats.org/officeDocument/2006/relationships/custom-properties" Target="/docProps/custom.xml" Id="R60db735c33fc459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3.png"/><Relationship Id="rId10" Type="http://schemas.openxmlformats.org/officeDocument/2006/relationships/image" Target="../media/image-1-4.png"/><Relationship Id="rId11" Type="http://schemas.openxmlformats.org/officeDocument/2006/relationships/image" Target="../media/image-1-5.png"/><Relationship Id="rId12" Type="http://schemas.openxmlformats.org/officeDocument/2006/relationships/image" Target="../media/image-1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"/>
          </a:xfrm>
          <a:prstGeom prst="rect">
            <a:avLst/>
          </a:prstGeom>
          <a:solidFill>
            <a:srgbClr val="1A355E"/>
          </a:solidFill>
          <a:ln w="12700">
            <a:solidFill>
              <a:srgbClr val="1A3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77954"/>
            <a:ext cx="6858000" cy="128016"/>
          </a:xfrm>
          <a:prstGeom prst="rect">
            <a:avLst/>
          </a:prstGeom>
          <a:solidFill>
            <a:srgbClr val="1A355E"/>
          </a:solidFill>
          <a:ln w="12700">
            <a:solidFill>
              <a:srgbClr val="1A3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10896"/>
            <a:ext cx="54864" cy="603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83464"/>
            <a:ext cx="658368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2.4.7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512064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작성 및 제출체계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69264"/>
            <a:ext cx="5650992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착수·분석부터 설계, 구현·시험, 운영·교육·기술이전, 완료·인수인계까지 요구사항 기반 산출물 관리체계 수립</a:t>
            </a:r>
            <a:endParaRPr lang="en-US" sz="1200" dirty="0"/>
          </a:p>
        </p:txBody>
      </p:sp>
      <p:pic>
        <p:nvPicPr>
          <p:cNvPr id="8" name="Image 0" descr="/mnt/data/deliverables_submission_assets/de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237744"/>
            <a:ext cx="1225296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1353312"/>
            <a:ext cx="1481328" cy="2560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A3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제출 흐름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" y="1682496"/>
            <a:ext cx="6089904" cy="18836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810512"/>
            <a:ext cx="4882896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8E6FB"/>
            </a:solidFill>
          </a:ln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작성주체·검토자·제출시점·승인절차·변경관리 기준을 착수단계부터 명확화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267712"/>
            <a:ext cx="896112" cy="71323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3591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7FF">
                <a:alpha val="60000"/>
              </a:srgbClr>
            </a:solidFill>
            <a:prstDash val="solid"/>
          </a:ln>
        </p:spPr>
      </p:sp>
      <p:pic>
        <p:nvPicPr>
          <p:cNvPr id="14" name="Image 1" descr="/mnt/data/deliverables_submission_assets/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40487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2670048"/>
            <a:ext cx="749808" cy="228600"/>
          </a:xfrm>
          <a:prstGeom prst="rect">
            <a:avLst/>
          </a:prstGeom>
          <a:solidFill>
            <a:srgbClr val="EAF3FF">
              <a:alpha val="0"/>
            </a:srgbClr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착수·분석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527048" y="2542032"/>
            <a:ext cx="118872" cy="146304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700784" y="2267712"/>
            <a:ext cx="896112" cy="713232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D9C7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011680" y="23591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C7FF">
                <a:alpha val="60000"/>
              </a:srgbClr>
            </a:solidFill>
            <a:prstDash val="solid"/>
          </a:ln>
        </p:spPr>
      </p:sp>
      <p:pic>
        <p:nvPicPr>
          <p:cNvPr id="19" name="Image 2" descr="/mnt/data/deliverables_submission_assets/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404872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73936" y="2651760"/>
            <a:ext cx="749808" cy="279400"/>
          </a:xfrm>
          <a:prstGeom prst="rect">
            <a:avLst/>
          </a:prstGeom>
          <a:solidFill>
            <a:srgbClr val="F2ECFF">
              <a:alpha val="0"/>
            </a:srgbClr>
          </a:solidFill>
          <a:ln>
            <a:solidFill>
              <a:srgbClr val="F2EC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HLD·LLD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산출물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660904" y="2542032"/>
            <a:ext cx="118872" cy="146304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834640" y="2267712"/>
            <a:ext cx="896112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7E4D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145536" y="23591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E4D5">
                <a:alpha val="60000"/>
              </a:srgbClr>
            </a:solidFill>
            <a:prstDash val="solid"/>
          </a:ln>
        </p:spPr>
      </p:sp>
      <p:pic>
        <p:nvPicPr>
          <p:cNvPr id="24" name="Image 3" descr="/mnt/data/deliverables_submission_assets/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0487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907792" y="2670048"/>
            <a:ext cx="749808" cy="228600"/>
          </a:xfrm>
          <a:prstGeom prst="rect">
            <a:avLst/>
          </a:prstGeom>
          <a:solidFill>
            <a:srgbClr val="ECFDF5">
              <a:alpha val="0"/>
            </a:srgbClr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구현·시험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794760" y="2542032"/>
            <a:ext cx="118872" cy="146304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968496" y="2267712"/>
            <a:ext cx="896112" cy="71323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E4A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279392" y="23591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AD">
                <a:alpha val="60000"/>
              </a:srgbClr>
            </a:solidFill>
            <a:prstDash val="solid"/>
          </a:ln>
        </p:spPr>
      </p:sp>
      <p:pic>
        <p:nvPicPr>
          <p:cNvPr id="29" name="Image 4" descr="/mnt/data/deliverables_submission_assets/ope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404872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41648" y="2651760"/>
            <a:ext cx="749808" cy="279400"/>
          </a:xfrm>
          <a:prstGeom prst="rect">
            <a:avLst/>
          </a:prstGeom>
          <a:solidFill>
            <a:srgbClr val="FFF7E6">
              <a:alpha val="0"/>
            </a:srgbClr>
          </a:solidFill>
          <a:ln>
            <a:solidFill>
              <a:srgbClr val="FFF7E6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운영·교육·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기술이전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928616" y="2542032"/>
            <a:ext cx="118872" cy="146304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102352" y="2267712"/>
            <a:ext cx="896112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FE6C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413248" y="23591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6CF">
                <a:alpha val="60000"/>
              </a:srgbClr>
            </a:solidFill>
            <a:prstDash val="solid"/>
          </a:ln>
        </p:spPr>
      </p:sp>
      <p:pic>
        <p:nvPicPr>
          <p:cNvPr id="34" name="Image 5" descr="/mnt/data/deliverables_submission_assets/hando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2404872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75504" y="2670048"/>
            <a:ext cx="749808" cy="228600"/>
          </a:xfrm>
          <a:prstGeom prst="rect">
            <a:avLst/>
          </a:prstGeom>
          <a:solidFill>
            <a:srgbClr val="ECFDF5">
              <a:alpha val="0"/>
            </a:srgbClr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완료·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인수인계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1920240" y="3163824"/>
            <a:ext cx="3054096" cy="256032"/>
          </a:xfrm>
          <a:prstGeom prst="roundRect">
            <a:avLst/>
          </a:prstGeom>
          <a:solidFill>
            <a:srgbClr val="F2FCF7"/>
          </a:solidFill>
          <a:ln w="12700">
            <a:solidFill>
              <a:srgbClr val="CFEBDD"/>
            </a:solidFill>
            <a:prstDash val="solid"/>
          </a:ln>
        </p:spPr>
      </p:sp>
      <p:pic>
        <p:nvPicPr>
          <p:cNvPr id="37" name="Image 6" descr="/mnt/data/deliverables_submission_assets/contr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968" y="3218688"/>
            <a:ext cx="146304" cy="1463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267712" y="3200400"/>
            <a:ext cx="2542032" cy="215900"/>
          </a:xfrm>
          <a:prstGeom prst="rect">
            <a:avLst/>
          </a:prstGeom>
          <a:solidFill>
            <a:srgbClr val="F2FCF7">
              <a:alpha val="0"/>
            </a:srgbClr>
          </a:solidFill>
          <a:ln>
            <a:solidFill>
              <a:srgbClr val="F2FCF7">
                <a:alpha val="0"/>
              </a:srgbClr>
            </a:solidFill>
          </a:ln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연결 · 최신본/승인본/변경이력 구분 · 최종 검토체계 운영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384048" y="3785616"/>
            <a:ext cx="6089904" cy="459028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CEBFF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66928" y="3950208"/>
            <a:ext cx="2816352" cy="292608"/>
          </a:xfrm>
          <a:prstGeom prst="rect">
            <a:avLst/>
          </a:prstGeom>
          <a:solidFill>
            <a:srgbClr val="F8FBFF">
              <a:alpha val="0"/>
            </a:srgbClr>
          </a:solidFill>
          <a:ln>
            <a:solidFill>
              <a:srgbClr val="F8FBFF">
                <a:alpha val="0"/>
              </a:srgbClr>
            </a:solidFill>
          </a:ln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3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산출물 구성 및 제출관리</a:t>
            </a:r>
            <a:endParaRPr lang="en-US" sz="1600" dirty="0"/>
          </a:p>
        </p:txBody>
      </p:sp>
      <p:sp>
        <p:nvSpPr>
          <p:cNvPr id="41" name="Shape 32"/>
          <p:cNvSpPr/>
          <p:nvPr/>
        </p:nvSpPr>
        <p:spPr>
          <a:xfrm>
            <a:off x="585216" y="4334256"/>
            <a:ext cx="278892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585216" y="4334256"/>
            <a:ext cx="109728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00100" y="4377690"/>
            <a:ext cx="301752" cy="3017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pic>
        <p:nvPicPr>
          <p:cNvPr id="44" name="Image 7" descr="/mnt/data/deliverables_submission_assets/analysi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" y="4425696"/>
            <a:ext cx="205740" cy="20574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261872" y="4453128"/>
            <a:ext cx="731520" cy="182880"/>
          </a:xfrm>
          <a:prstGeom prst="roundRect">
            <a:avLst/>
          </a:prstGeom>
          <a:solidFill>
            <a:srgbClr val="EAF3FF"/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착수·분석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2048256" y="4443984"/>
            <a:ext cx="123444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착수·분석 산출물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768096" y="4736592"/>
            <a:ext cx="2496312" cy="711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38100" tIns="127000" rIns="38100" bIns="381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사업수행계획서, 요구사항 정의서, 요구사항 추적표, 현황분석서, API 조사표, 전환대상 선정기준을 작성하고 산출물별 작성주체·검토자·제출시점·승인절차·변경관리 기준을 설정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3483864" y="4334256"/>
            <a:ext cx="278892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483864" y="4334256"/>
            <a:ext cx="109728" cy="1152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3698748" y="4377690"/>
            <a:ext cx="301752" cy="301752"/>
          </a:xfrm>
          <a:prstGeom prst="ellipse">
            <a:avLst/>
          </a:prstGeom>
          <a:solidFill>
            <a:srgbClr val="F2EC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51" name="Image 8" descr="/mnt/data/deliverables_submission_assets/desig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6754" y="4425696"/>
            <a:ext cx="205740" cy="20574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160520" y="4453128"/>
            <a:ext cx="731520" cy="182880"/>
          </a:xfrm>
          <a:prstGeom prst="roundRect">
            <a:avLst/>
          </a:prstGeom>
          <a:solidFill>
            <a:srgbClr val="F2ECFF"/>
          </a:solidFill>
          <a:ln>
            <a:solidFill>
              <a:srgbClr val="F2EC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4946904" y="4443984"/>
            <a:ext cx="123444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HLD·LLD 설계 산출물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3666744" y="4736592"/>
            <a:ext cx="2496312" cy="736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아키텍처·컴포넌트·Microservice·기능·Use Case·Sequence·인프라·API·Interface·DB Schema/ERD·모듈·배포 정의서 작성</a:t>
            </a:r>
            <a:endParaRPr lang="en-US" sz="1200" dirty="0"/>
          </a:p>
        </p:txBody>
      </p:sp>
      <p:sp>
        <p:nvSpPr>
          <p:cNvPr id="55" name="Shape 44"/>
          <p:cNvSpPr/>
          <p:nvPr/>
        </p:nvSpPr>
        <p:spPr>
          <a:xfrm>
            <a:off x="585216" y="5650992"/>
            <a:ext cx="278892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585216" y="5650992"/>
            <a:ext cx="109728" cy="11521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800100" y="5694426"/>
            <a:ext cx="301752" cy="30175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pic>
        <p:nvPicPr>
          <p:cNvPr id="58" name="Image 9" descr="/mnt/data/deliverables_submission_assets/t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106" y="5742432"/>
            <a:ext cx="205740" cy="20574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1261872" y="5769864"/>
            <a:ext cx="731520" cy="182880"/>
          </a:xfrm>
          <a:prstGeom prst="roundRect">
            <a:avLst/>
          </a:prstGeom>
          <a:solidFill>
            <a:srgbClr val="ECFDF5"/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구현·시험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2048256" y="5760720"/>
            <a:ext cx="123444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구현·시험 산출물</a:t>
            </a:r>
            <a:endParaRPr lang="en-US" sz="1200" dirty="0"/>
          </a:p>
        </p:txBody>
      </p:sp>
      <p:sp>
        <p:nvSpPr>
          <p:cNvPr id="61" name="Text 49"/>
          <p:cNvSpPr/>
          <p:nvPr/>
        </p:nvSpPr>
        <p:spPr>
          <a:xfrm>
            <a:off x="768096" y="6053328"/>
            <a:ext cx="2496312" cy="736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소스코드·SW Binary·Container Image·Manifest/Helm·설치/빌드 가이드를 제출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단위·통합·연계·성능·Failover·보안시험 결과와 결함조치 관리</a:t>
            </a:r>
          </a:p>
        </p:txBody>
      </p:sp>
      <p:sp>
        <p:nvSpPr>
          <p:cNvPr id="62" name="Shape 50"/>
          <p:cNvSpPr/>
          <p:nvPr/>
        </p:nvSpPr>
        <p:spPr>
          <a:xfrm>
            <a:off x="3483864" y="5650992"/>
            <a:ext cx="278892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3483864" y="5650992"/>
            <a:ext cx="109728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698748" y="5694426"/>
            <a:ext cx="301752" cy="301752"/>
          </a:xfrm>
          <a:prstGeom prst="ellipse">
            <a:avLst/>
          </a:prstGeom>
          <a:solidFill>
            <a:srgbClr val="FFF7E6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65" name="Image 10" descr="/mnt/data/deliverables_submission_assets/oper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754" y="5742432"/>
            <a:ext cx="205740" cy="205740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4160520" y="5769864"/>
            <a:ext cx="731520" cy="182880"/>
          </a:xfrm>
          <a:prstGeom prst="roundRect">
            <a:avLst/>
          </a:prstGeom>
          <a:solidFill>
            <a:srgbClr val="FFF7E6"/>
          </a:solidFill>
          <a:ln>
            <a:solidFill>
              <a:srgbClr val="FFF7E6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운영·이전</a:t>
            </a:r>
            <a:endParaRPr lang="en-US" sz="1200" dirty="0"/>
          </a:p>
        </p:txBody>
      </p:sp>
      <p:sp>
        <p:nvSpPr>
          <p:cNvPr id="67" name="Text 54"/>
          <p:cNvSpPr/>
          <p:nvPr/>
        </p:nvSpPr>
        <p:spPr>
          <a:xfrm>
            <a:off x="4946904" y="5760720"/>
            <a:ext cx="1234440" cy="24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운영·교육·기술이전 산출물</a:t>
            </a:r>
            <a:endParaRPr lang="en-US" sz="1200" dirty="0"/>
          </a:p>
        </p:txBody>
      </p:sp>
      <p:sp>
        <p:nvSpPr>
          <p:cNvPr id="68" name="Text 55"/>
          <p:cNvSpPr/>
          <p:nvPr/>
        </p:nvSpPr>
        <p:spPr>
          <a:xfrm>
            <a:off x="3666744" y="6053328"/>
            <a:ext cx="2496312" cy="711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매뉴얼·장애대응·모니터링·교육·기술이전 자료를 작성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이용지침·협약서·품질/보안·SLA·평가지표·기관별 연계 가이드 제공</a:t>
            </a:r>
          </a:p>
        </p:txBody>
      </p:sp>
      <p:sp>
        <p:nvSpPr>
          <p:cNvPr id="69" name="Shape 56"/>
          <p:cNvSpPr/>
          <p:nvPr/>
        </p:nvSpPr>
        <p:spPr>
          <a:xfrm>
            <a:off x="585216" y="6967728"/>
            <a:ext cx="5687568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4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585216" y="6967728"/>
            <a:ext cx="109728" cy="9509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800100" y="7011162"/>
            <a:ext cx="301752" cy="30175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pic>
        <p:nvPicPr>
          <p:cNvPr id="72" name="Image 11" descr="/mnt/data/deliverables_submission_assets/handov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106" y="7059168"/>
            <a:ext cx="205740" cy="205740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1261872" y="7086600"/>
            <a:ext cx="731520" cy="182880"/>
          </a:xfrm>
          <a:prstGeom prst="roundRect">
            <a:avLst/>
          </a:prstGeom>
          <a:solidFill>
            <a:srgbClr val="ECFDF5"/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완료·인수</a:t>
            </a:r>
            <a:endParaRPr lang="en-US" sz="1200" dirty="0"/>
          </a:p>
        </p:txBody>
      </p:sp>
      <p:sp>
        <p:nvSpPr>
          <p:cNvPr id="74" name="Text 60"/>
          <p:cNvSpPr/>
          <p:nvPr/>
        </p:nvSpPr>
        <p:spPr>
          <a:xfrm>
            <a:off x="2048256" y="7077456"/>
            <a:ext cx="413308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" tIns="12700" rIns="12700" bIns="127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완료·인수인계 산출물</a:t>
            </a:r>
            <a:endParaRPr lang="en-US" sz="1200" dirty="0"/>
          </a:p>
        </p:txBody>
      </p:sp>
      <p:sp>
        <p:nvSpPr>
          <p:cNvPr id="75" name="Text 61"/>
          <p:cNvSpPr/>
          <p:nvPr/>
        </p:nvSpPr>
        <p:spPr>
          <a:xfrm>
            <a:off x="768096" y="7370064"/>
            <a:ext cx="5394960" cy="508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완료보고서·최종 산출물·요구사항 충족현황·설치전환·인수인계 자료를 제출하고 요구사항 연결과 최신본·승인본·변경이력을 관리</a:t>
            </a:r>
            <a:endParaRPr lang="en-US" sz="1200" dirty="0"/>
          </a:p>
        </p:txBody>
      </p:sp>
      <p:sp>
        <p:nvSpPr>
          <p:cNvPr id="76" name="Text 62"/>
          <p:cNvSpPr/>
          <p:nvPr/>
        </p:nvSpPr>
        <p:spPr>
          <a:xfrm>
            <a:off x="530352" y="8558784"/>
            <a:ext cx="105156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77" name="Text 63"/>
          <p:cNvSpPr/>
          <p:nvPr/>
        </p:nvSpPr>
        <p:spPr>
          <a:xfrm>
            <a:off x="530352" y="8906256"/>
            <a:ext cx="5797296" cy="512064"/>
          </a:xfrm>
          <a:prstGeom prst="roundRect">
            <a:avLst/>
          </a:prstGeom>
          <a:solidFill>
            <a:srgbClr val="1A355E"/>
          </a:solidFill>
          <a:ln>
            <a:solidFill>
              <a:srgbClr val="1A355E">
                <a:alpha val="0"/>
              </a:srgbClr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책임자·검토자·승인절차·변경관리 기준을 명확히 하고 모든 산출물을 요구사항과 연결해 인수검토와 운영전환 신뢰성 확보</a:t>
            </a:r>
            <a:endParaRPr lang="en-US" sz="1200" dirty="0"/>
          </a:p>
        </p:txBody>
      </p:sp>
      <p:sp>
        <p:nvSpPr>
          <p:cNvPr id="78" name="Text 64"/>
          <p:cNvSpPr/>
          <p:nvPr/>
        </p:nvSpPr>
        <p:spPr>
          <a:xfrm>
            <a:off x="438912" y="9546336"/>
            <a:ext cx="352044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민주정부 기반 정부공통 MCP 구축 사업</a:t>
            </a:r>
            <a:endParaRPr lang="en-US" sz="1200" dirty="0"/>
          </a:p>
        </p:txBody>
      </p:sp>
      <p:sp>
        <p:nvSpPr>
          <p:cNvPr id="79" name="Text 65"/>
          <p:cNvSpPr/>
          <p:nvPr/>
        </p:nvSpPr>
        <p:spPr>
          <a:xfrm>
            <a:off x="5989320" y="9546336"/>
            <a:ext cx="384048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lnSpc>
                <a:spcPct val="8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2.4.7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On-screen Show (16:9)</ap:PresentationFormat>
  <ap:Paragraphs>0</ap:Paragraphs>
  <ap:Slides>1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4">
      <vt:lpstr>Arial</vt:lpstr>
      <vt:lpstr>Calibri</vt:lpstr>
      <vt:lpstr>Office Theme</vt:lpstr>
      <vt:lpstr>Slide 1</vt:lpstr>
    </vt:vector>
  </ap:TitlesOfParts>
  <ap:Company>DMTLabs</ap:Company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2.4.7. 산출물 작성 및 제출체계</dc:title>
  <dc:subject>산출물 작성 및 제출체계</dc:subject>
  <dc:creator>DMTLabs</dc:creator>
  <cp:lastModifiedBy>DMTLabs</cp:lastModifiedBy>
  <cp:revision>1</cp:revision>
  <dcterms:created xsi:type="dcterms:W3CDTF">2026-07-12T21:13:06Z</dcterms:created>
  <dcterms:modified xsi:type="dcterms:W3CDTF">2026-07-12T21:13:06Z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2026-07-13T13:27:33Z</vt:lpwstr>
  </op:property>
</op:Properties>
</file>