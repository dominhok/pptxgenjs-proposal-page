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docProps/app.xml" Id="rId1" /><Relationship Type="http://schemas.openxmlformats.org/package/2006/relationships/metadata/core-properties" Target="docProps/core.xml" Id="rId2" /><Relationship Type="http://schemas.openxmlformats.org/officeDocument/2006/relationships/officeDocument" Target="ppt/presentation.xml" Id="rId3" /><Relationship Type="http://schemas.openxmlformats.org/officeDocument/2006/relationships/custom-properties" Target="/docProps/custom.xml" Id="R8d3a2cdb546a4c88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905970"/>
  <p:notesSz cx="990597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2.png"/><Relationship Id="rId8" Type="http://schemas.openxmlformats.org/officeDocument/2006/relationships/image" Target="../media/image-1-3.png"/><Relationship Id="rId9" Type="http://schemas.openxmlformats.org/officeDocument/2006/relationships/image" Target="../media/image-1-4.png"/><Relationship Id="rId10" Type="http://schemas.openxmlformats.org/officeDocument/2006/relationships/image" Target="../media/image-1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"/>
          </a:xfrm>
          <a:prstGeom prst="rect">
            <a:avLst/>
          </a:prstGeom>
          <a:solidFill>
            <a:srgbClr val="1A355E"/>
          </a:solidFill>
          <a:ln w="12700">
            <a:solidFill>
              <a:srgbClr val="1A35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77954"/>
            <a:ext cx="6858000" cy="128016"/>
          </a:xfrm>
          <a:prstGeom prst="rect">
            <a:avLst/>
          </a:prstGeom>
          <a:solidFill>
            <a:srgbClr val="1A355E"/>
          </a:solidFill>
          <a:ln w="12700">
            <a:solidFill>
              <a:srgbClr val="1A35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10896"/>
            <a:ext cx="54864" cy="6035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83464"/>
            <a:ext cx="658368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2.3.1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4846320" cy="3840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기술 아키텍처 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69264"/>
            <a:ext cx="5715000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민간 AI Agent, 정부 MCP Gateway, 서비스별 MCP Server, DSP·개방기관 API, A2A Gateway PoC로 구성되는 공공 AI 연계 구조</a:t>
            </a:r>
            <a:endParaRPr lang="en-US" sz="1200" dirty="0"/>
          </a:p>
        </p:txBody>
      </p:sp>
      <p:pic>
        <p:nvPicPr>
          <p:cNvPr id="8" name="Image 0" descr="/mnt/data/technical_architecture_1_assets/dec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504" y="237744"/>
            <a:ext cx="1225296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1353312"/>
            <a:ext cx="1426464" cy="25603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연계 구조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4048" y="1700784"/>
            <a:ext cx="6089904" cy="190195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1828800"/>
            <a:ext cx="4590288" cy="219456"/>
          </a:xfrm>
          <a:prstGeom prst="roundRect">
            <a:avLst/>
          </a:prstGeom>
          <a:solidFill>
            <a:srgbClr val="EEF4FF"/>
          </a:solidFill>
          <a:ln>
            <a:solidFill>
              <a:srgbClr val="D8E6FB"/>
            </a:solidFill>
          </a:ln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민간 Agent → 정부 MCP Gateway → 서비스별 MCP Server → DSP·개방기관 API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6112" y="3328416"/>
            <a:ext cx="5102352" cy="182880"/>
          </a:xfrm>
          <a:prstGeom prst="rect">
            <a:avLst/>
          </a:prstGeom>
          <a:solidFill>
            <a:srgbClr val="F8FBFF">
              <a:alpha val="0"/>
            </a:srgbClr>
          </a:solidFill>
          <a:ln>
            <a:solidFill>
              <a:srgbClr val="F8FBFF">
                <a:alpha val="0"/>
              </a:srgbClr>
            </a:solidFill>
          </a:ln>
        </p:spPr>
        <p:txBody>
          <a:bodyPr wrap="square" lIns="6350" tIns="6350" rIns="6350" bIns="635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A2A Gateway PoC는 공공·민간 AI Agent 간 상호운용을 검증하는 확장 경로로 연계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5216" y="2231136"/>
            <a:ext cx="1170432" cy="676656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BBD7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23591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D7FF">
                <a:alpha val="60000"/>
              </a:srgbClr>
            </a:solidFill>
            <a:prstDash val="solid"/>
          </a:ln>
        </p:spPr>
      </p:sp>
      <p:pic>
        <p:nvPicPr>
          <p:cNvPr id="15" name="Image 1" descr="/mnt/data/technical_architecture_1_assets/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14016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77900" y="2260600"/>
            <a:ext cx="723900" cy="228600"/>
          </a:xfrm>
          <a:prstGeom prst="rect">
            <a:avLst/>
          </a:prstGeom>
          <a:solidFill>
            <a:srgbClr val="EAF3FF">
              <a:alpha val="0"/>
            </a:srgbClr>
          </a:solidFill>
          <a:ln>
            <a:solidFill>
              <a:srgbClr val="EAF3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민간 AI Agent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77900" y="2527300"/>
            <a:ext cx="723900" cy="330200"/>
          </a:xfrm>
          <a:prstGeom prst="rect">
            <a:avLst/>
          </a:prstGeom>
          <a:solidFill>
            <a:srgbClr val="EAF3FF">
              <a:alpha val="0"/>
            </a:srgbClr>
          </a:solidFill>
          <a:ln>
            <a:solidFill>
              <a:srgbClr val="EAF3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분석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 탐색</a:t>
            </a:r>
          </a:p>
        </p:txBody>
      </p:sp>
      <p:sp>
        <p:nvSpPr>
          <p:cNvPr id="18" name="Shape 14"/>
          <p:cNvSpPr/>
          <p:nvPr/>
        </p:nvSpPr>
        <p:spPr>
          <a:xfrm>
            <a:off x="1847088" y="2468880"/>
            <a:ext cx="146304" cy="164592"/>
          </a:xfrm>
          <a:prstGeom prst="chevron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993392" y="2231136"/>
            <a:ext cx="1389888" cy="676656"/>
          </a:xfrm>
          <a:prstGeom prst="roundRect">
            <a:avLst/>
          </a:prstGeom>
          <a:solidFill>
            <a:srgbClr val="F2ECFF"/>
          </a:solidFill>
          <a:ln w="12700">
            <a:solidFill>
              <a:srgbClr val="D9C7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066544" y="23591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C7FF">
                <a:alpha val="60000"/>
              </a:srgbClr>
            </a:solidFill>
            <a:prstDash val="solid"/>
          </a:ln>
        </p:spPr>
      </p:sp>
      <p:pic>
        <p:nvPicPr>
          <p:cNvPr id="21" name="Image 2" descr="/mnt/data/technical_architecture_1_assets/gate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2414016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387600" y="2260600"/>
            <a:ext cx="939800" cy="228600"/>
          </a:xfrm>
          <a:prstGeom prst="rect">
            <a:avLst/>
          </a:prstGeom>
          <a:solidFill>
            <a:srgbClr val="F2ECFF">
              <a:alpha val="0"/>
            </a:srgbClr>
          </a:solidFill>
          <a:ln>
            <a:solidFill>
              <a:srgbClr val="F2EC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MCP Gateway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2387600" y="2527300"/>
            <a:ext cx="939800" cy="330200"/>
          </a:xfrm>
          <a:prstGeom prst="rect">
            <a:avLst/>
          </a:prstGeom>
          <a:solidFill>
            <a:srgbClr val="F2ECFF">
              <a:alpha val="0"/>
            </a:srgbClr>
          </a:solidFill>
          <a:ln>
            <a:solidFill>
              <a:srgbClr val="F2EC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인증·권한·유량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라우팅·감사</a:t>
            </a:r>
          </a:p>
        </p:txBody>
      </p:sp>
      <p:sp>
        <p:nvSpPr>
          <p:cNvPr id="24" name="Shape 19"/>
          <p:cNvSpPr/>
          <p:nvPr/>
        </p:nvSpPr>
        <p:spPr>
          <a:xfrm>
            <a:off x="3474720" y="2468880"/>
            <a:ext cx="146304" cy="164592"/>
          </a:xfrm>
          <a:prstGeom prst="chevron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621024" y="2231136"/>
            <a:ext cx="1389888" cy="67665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7E4D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694176" y="23591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E4D5">
                <a:alpha val="60000"/>
              </a:srgbClr>
            </a:solidFill>
            <a:prstDash val="solid"/>
          </a:ln>
        </p:spPr>
      </p:sp>
      <p:pic>
        <p:nvPicPr>
          <p:cNvPr id="27" name="Image 3" descr="/mnt/data/technical_architecture_1_asset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414016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013200" y="2260600"/>
            <a:ext cx="939800" cy="228600"/>
          </a:xfrm>
          <a:prstGeom prst="rect">
            <a:avLst/>
          </a:prstGeom>
          <a:solidFill>
            <a:srgbClr val="ECFDF5">
              <a:alpha val="0"/>
            </a:srgbClr>
          </a:solidFill>
          <a:ln>
            <a:solidFill>
              <a:srgbClr val="ECFDF5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서비스별 MCP Server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013200" y="2527300"/>
            <a:ext cx="939800" cy="330200"/>
          </a:xfrm>
          <a:prstGeom prst="rect">
            <a:avLst/>
          </a:prstGeom>
          <a:solidFill>
            <a:srgbClr val="ECFDF5">
              <a:alpha val="0"/>
            </a:srgbClr>
          </a:solidFill>
          <a:ln>
            <a:solidFill>
              <a:srgbClr val="ECFDF5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 변환·검증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Adapter 정규화</a:t>
            </a:r>
          </a:p>
        </p:txBody>
      </p:sp>
      <p:sp>
        <p:nvSpPr>
          <p:cNvPr id="30" name="Shape 24"/>
          <p:cNvSpPr/>
          <p:nvPr/>
        </p:nvSpPr>
        <p:spPr>
          <a:xfrm>
            <a:off x="5102352" y="2468880"/>
            <a:ext cx="146304" cy="164592"/>
          </a:xfrm>
          <a:prstGeom prst="chevron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248656" y="2231136"/>
            <a:ext cx="914400" cy="676656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E4AD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321808" y="23591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AD">
                <a:alpha val="60000"/>
              </a:srgbClr>
            </a:solidFill>
            <a:prstDash val="solid"/>
          </a:ln>
        </p:spPr>
      </p:sp>
      <p:pic>
        <p:nvPicPr>
          <p:cNvPr id="33" name="Image 4" descr="/mnt/data/technical_architecture_1_assets/a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2414016"/>
            <a:ext cx="182880" cy="1828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626100" y="2260600"/>
            <a:ext cx="508000" cy="254000"/>
          </a:xfrm>
          <a:prstGeom prst="rect">
            <a:avLst/>
          </a:prstGeom>
          <a:solidFill>
            <a:srgbClr val="FFF7E6">
              <a:alpha val="0"/>
            </a:srgbClr>
          </a:solidFill>
          <a:ln>
            <a:solidFill>
              <a:srgbClr val="FFF7E6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DSP·개방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</a:p>
        </p:txBody>
      </p:sp>
      <p:sp>
        <p:nvSpPr>
          <p:cNvPr id="35" name="Text 28"/>
          <p:cNvSpPr/>
          <p:nvPr/>
        </p:nvSpPr>
        <p:spPr>
          <a:xfrm>
            <a:off x="5626100" y="2552700"/>
            <a:ext cx="508000" cy="304800"/>
          </a:xfrm>
          <a:prstGeom prst="rect">
            <a:avLst/>
          </a:prstGeom>
          <a:solidFill>
            <a:srgbClr val="FFF7E6">
              <a:alpha val="0"/>
            </a:srgbClr>
          </a:solidFill>
          <a:ln>
            <a:solidFill>
              <a:srgbClr val="FFF7E6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인증·복호화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반환</a:t>
            </a:r>
          </a:p>
        </p:txBody>
      </p:sp>
      <p:sp>
        <p:nvSpPr>
          <p:cNvPr id="36" name="Shape 29"/>
          <p:cNvSpPr/>
          <p:nvPr/>
        </p:nvSpPr>
        <p:spPr>
          <a:xfrm>
            <a:off x="1847088" y="2944368"/>
            <a:ext cx="3456432" cy="365760"/>
          </a:xfrm>
          <a:prstGeom prst="roundRect">
            <a:avLst/>
          </a:prstGeom>
          <a:solidFill>
            <a:srgbClr val="F2FCF7"/>
          </a:solidFill>
          <a:ln w="12700">
            <a:solidFill>
              <a:srgbClr val="CFEBDD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956816" y="299923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E6CF">
                <a:alpha val="60000"/>
              </a:srgbClr>
            </a:solidFill>
            <a:prstDash val="solid"/>
          </a:ln>
        </p:spPr>
      </p:sp>
      <p:pic>
        <p:nvPicPr>
          <p:cNvPr id="38" name="Image 5" descr="/mnt/data/technical_architecture_1_assets/a2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3392" y="3035808"/>
            <a:ext cx="164592" cy="16459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247900" y="2971800"/>
            <a:ext cx="1016000" cy="203200"/>
          </a:xfrm>
          <a:prstGeom prst="roundRect">
            <a:avLst/>
          </a:prstGeom>
          <a:solidFill>
            <a:srgbClr val="16A34A"/>
          </a:solidFill>
          <a:ln>
            <a:solidFill>
              <a:srgbClr val="16A34A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A2A PoC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3378200" y="2959100"/>
            <a:ext cx="1778000" cy="304800"/>
          </a:xfrm>
          <a:prstGeom prst="rect">
            <a:avLst/>
          </a:prstGeom>
          <a:solidFill>
            <a:srgbClr val="F2FCF7">
              <a:alpha val="0"/>
            </a:srgbClr>
          </a:solidFill>
          <a:ln>
            <a:solidFill>
              <a:srgbClr val="F2FCF7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Gateway 기반 업무위임·상태공유·결과반환 검증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384048" y="3822192"/>
            <a:ext cx="6089904" cy="455371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566928" y="3986784"/>
            <a:ext cx="2852928" cy="292608"/>
          </a:xfrm>
          <a:prstGeom prst="rect">
            <a:avLst/>
          </a:prstGeom>
          <a:solidFill>
            <a:srgbClr val="F8FBFF">
              <a:alpha val="0"/>
            </a:srgbClr>
          </a:solidFill>
          <a:ln>
            <a:solidFill>
              <a:srgbClr val="F8FBFF">
                <a:alpha val="0"/>
              </a:srgbClr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A3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구성요소별 역할 이해</a:t>
            </a:r>
            <a:endParaRPr lang="en-US" sz="1600" dirty="0"/>
          </a:p>
        </p:txBody>
      </p:sp>
      <p:sp>
        <p:nvSpPr>
          <p:cNvPr id="43" name="Shape 35"/>
          <p:cNvSpPr/>
          <p:nvPr/>
        </p:nvSpPr>
        <p:spPr>
          <a:xfrm>
            <a:off x="585216" y="4370832"/>
            <a:ext cx="2788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4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585216" y="4370832"/>
            <a:ext cx="109728" cy="14813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804672" y="4441698"/>
            <a:ext cx="329184" cy="329184"/>
          </a:xfrm>
          <a:prstGeom prst="ellipse">
            <a:avLst/>
          </a:prstGeom>
          <a:solidFill>
            <a:srgbClr val="EAF3FF"/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pic>
        <p:nvPicPr>
          <p:cNvPr id="46" name="Image 6" descr="/mnt/data/technical_architecture_1_assets/ag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4496562"/>
            <a:ext cx="219456" cy="219456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298448" y="4517136"/>
            <a:ext cx="603504" cy="182880"/>
          </a:xfrm>
          <a:prstGeom prst="roundRect">
            <a:avLst/>
          </a:prstGeom>
          <a:solidFill>
            <a:srgbClr val="EAF3FF"/>
          </a:solidFill>
          <a:ln>
            <a:solidFill>
              <a:srgbClr val="EAF3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이용채널</a:t>
            </a:r>
            <a:endParaRPr lang="en-US" sz="1200" dirty="0"/>
          </a:p>
        </p:txBody>
      </p:sp>
      <p:sp>
        <p:nvSpPr>
          <p:cNvPr id="48" name="Text 39"/>
          <p:cNvSpPr/>
          <p:nvPr/>
        </p:nvSpPr>
        <p:spPr>
          <a:xfrm>
            <a:off x="1956816" y="4507992"/>
            <a:ext cx="1325880" cy="241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민간 AI Agent 기반 공공서비스 이용채널</a:t>
            </a:r>
            <a:endParaRPr lang="en-US" sz="1200" dirty="0"/>
          </a:p>
        </p:txBody>
      </p:sp>
      <p:sp>
        <p:nvSpPr>
          <p:cNvPr id="49" name="Text 40"/>
          <p:cNvSpPr/>
          <p:nvPr/>
        </p:nvSpPr>
        <p:spPr>
          <a:xfrm>
            <a:off x="768096" y="4828032"/>
            <a:ext cx="2496312" cy="9525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민간 AI Agent가 자연어 요청을 분석해 정부 MCP의 Tool을 탐색하고 적합한 공공서비스를 호출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표준 인터페이스로 특정 플랫폼 종속 없이 다양한 Agent·LLM과 연계 확장</a:t>
            </a:r>
          </a:p>
        </p:txBody>
      </p:sp>
      <p:sp>
        <p:nvSpPr>
          <p:cNvPr id="50" name="Shape 41"/>
          <p:cNvSpPr/>
          <p:nvPr/>
        </p:nvSpPr>
        <p:spPr>
          <a:xfrm>
            <a:off x="3483864" y="4370832"/>
            <a:ext cx="2788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4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3483864" y="4370832"/>
            <a:ext cx="109728" cy="1481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3703320" y="4441698"/>
            <a:ext cx="329184" cy="329184"/>
          </a:xfrm>
          <a:prstGeom prst="ellipse">
            <a:avLst/>
          </a:prstGeom>
          <a:solidFill>
            <a:srgbClr val="F2ECFF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pic>
        <p:nvPicPr>
          <p:cNvPr id="53" name="Image 7" descr="/mnt/data/technical_architecture_1_assets/gatew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8184" y="4496562"/>
            <a:ext cx="219456" cy="219456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4197096" y="4517136"/>
            <a:ext cx="603504" cy="182880"/>
          </a:xfrm>
          <a:prstGeom prst="roundRect">
            <a:avLst/>
          </a:prstGeom>
          <a:solidFill>
            <a:srgbClr val="F2ECFF"/>
          </a:solidFill>
          <a:ln>
            <a:solidFill>
              <a:srgbClr val="F2EC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공통통제</a:t>
            </a:r>
            <a:endParaRPr lang="en-US" sz="1200" dirty="0"/>
          </a:p>
        </p:txBody>
      </p:sp>
      <p:sp>
        <p:nvSpPr>
          <p:cNvPr id="55" name="Text 45"/>
          <p:cNvSpPr/>
          <p:nvPr/>
        </p:nvSpPr>
        <p:spPr>
          <a:xfrm>
            <a:off x="4855464" y="4507992"/>
            <a:ext cx="1325880" cy="241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MCP Gateway 기반 공통 연계·통제</a:t>
            </a:r>
            <a:endParaRPr lang="en-US" sz="1200" dirty="0"/>
          </a:p>
        </p:txBody>
      </p:sp>
      <p:sp>
        <p:nvSpPr>
          <p:cNvPr id="56" name="Text 46"/>
          <p:cNvSpPr/>
          <p:nvPr/>
        </p:nvSpPr>
        <p:spPr>
          <a:xfrm>
            <a:off x="3666744" y="4828032"/>
            <a:ext cx="2496312" cy="9525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MCP Gateway는 인증·권한확인·유량제어·라우팅·감사추적을 수행하는 단일 진입점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정책에 따라 적정 MCP Server로 중계하고 외부 Agent와 내부 서비스의 직접 연결 차단</a:t>
            </a:r>
          </a:p>
        </p:txBody>
      </p:sp>
      <p:sp>
        <p:nvSpPr>
          <p:cNvPr id="57" name="Shape 47"/>
          <p:cNvSpPr/>
          <p:nvPr/>
        </p:nvSpPr>
        <p:spPr>
          <a:xfrm>
            <a:off x="585216" y="6035040"/>
            <a:ext cx="2788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4"/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585216" y="6035040"/>
            <a:ext cx="109728" cy="14813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804672" y="6105906"/>
            <a:ext cx="329184" cy="32918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pic>
        <p:nvPicPr>
          <p:cNvPr id="60" name="Image 8" descr="/mnt/data/technical_architecture_1_assets/serv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6160770"/>
            <a:ext cx="219456" cy="219456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1298448" y="6181344"/>
            <a:ext cx="603504" cy="182880"/>
          </a:xfrm>
          <a:prstGeom prst="roundRect">
            <a:avLst/>
          </a:prstGeom>
          <a:solidFill>
            <a:srgbClr val="ECFDF5"/>
          </a:solidFill>
          <a:ln>
            <a:solidFill>
              <a:srgbClr val="ECFDF5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 제공</a:t>
            </a:r>
            <a:endParaRPr lang="en-US" sz="1200" dirty="0"/>
          </a:p>
        </p:txBody>
      </p:sp>
      <p:sp>
        <p:nvSpPr>
          <p:cNvPr id="62" name="Text 51"/>
          <p:cNvSpPr/>
          <p:nvPr/>
        </p:nvSpPr>
        <p:spPr>
          <a:xfrm>
            <a:off x="1956816" y="6172200"/>
            <a:ext cx="1325880" cy="241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서비스별 MCP Server 기반 공공 API Tool 제공</a:t>
            </a:r>
            <a:endParaRPr lang="en-US" sz="1200" dirty="0"/>
          </a:p>
        </p:txBody>
      </p:sp>
      <p:sp>
        <p:nvSpPr>
          <p:cNvPr id="63" name="Text 52"/>
          <p:cNvSpPr/>
          <p:nvPr/>
        </p:nvSpPr>
        <p:spPr>
          <a:xfrm>
            <a:off x="768096" y="6492240"/>
            <a:ext cx="2496312" cy="9525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Server는 개방 API를 MCP Tool로 변환하고 파라미터 검증·Adapter 호출·응답 정규화 수행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특성과 장애격리 요구에 따라 서비스·도메인별로 분리 구성</a:t>
            </a:r>
          </a:p>
        </p:txBody>
      </p:sp>
      <p:sp>
        <p:nvSpPr>
          <p:cNvPr id="64" name="Shape 53"/>
          <p:cNvSpPr/>
          <p:nvPr/>
        </p:nvSpPr>
        <p:spPr>
          <a:xfrm>
            <a:off x="3483864" y="6035040"/>
            <a:ext cx="2788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4"/>
            </a:solidFill>
            <a:prstDash val="solid"/>
          </a:ln>
        </p:spPr>
      </p:sp>
      <p:sp>
        <p:nvSpPr>
          <p:cNvPr id="65" name="Shape 54"/>
          <p:cNvSpPr/>
          <p:nvPr/>
        </p:nvSpPr>
        <p:spPr>
          <a:xfrm>
            <a:off x="3483864" y="6035040"/>
            <a:ext cx="109728" cy="1481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6" name="Shape 55"/>
          <p:cNvSpPr/>
          <p:nvPr/>
        </p:nvSpPr>
        <p:spPr>
          <a:xfrm>
            <a:off x="3703320" y="6105906"/>
            <a:ext cx="329184" cy="329184"/>
          </a:xfrm>
          <a:prstGeom prst="ellipse">
            <a:avLst/>
          </a:prstGeom>
          <a:solidFill>
            <a:srgbClr val="FFF7E6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67" name="Image 9" descr="/mnt/data/technical_architecture_1_assets/ap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8184" y="6160770"/>
            <a:ext cx="219456" cy="219456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4197096" y="6181344"/>
            <a:ext cx="603504" cy="182880"/>
          </a:xfrm>
          <a:prstGeom prst="roundRect">
            <a:avLst/>
          </a:prstGeom>
          <a:solidFill>
            <a:srgbClr val="FFF7E6"/>
          </a:solidFill>
          <a:ln>
            <a:solidFill>
              <a:srgbClr val="FFF7E6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외부연계</a:t>
            </a:r>
            <a:endParaRPr lang="en-US" sz="1200" dirty="0"/>
          </a:p>
        </p:txBody>
      </p:sp>
      <p:sp>
        <p:nvSpPr>
          <p:cNvPr id="69" name="Text 57"/>
          <p:cNvSpPr/>
          <p:nvPr/>
        </p:nvSpPr>
        <p:spPr>
          <a:xfrm>
            <a:off x="4855464" y="6172200"/>
            <a:ext cx="1325880" cy="241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DSP·개방기관 API 및 A2A Gateway PoC 연계</a:t>
            </a:r>
            <a:endParaRPr lang="en-US" sz="1200" dirty="0"/>
          </a:p>
        </p:txBody>
      </p:sp>
      <p:sp>
        <p:nvSpPr>
          <p:cNvPr id="70" name="Text 58"/>
          <p:cNvSpPr/>
          <p:nvPr/>
        </p:nvSpPr>
        <p:spPr>
          <a:xfrm>
            <a:off x="3666744" y="6492240"/>
            <a:ext cx="2496312" cy="9525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Server는 DSP 인증·암복호화 체계로 개방기관 API를 호출하고 결과를 표준형식으로 반환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A2A Gateway PoC로 Agent 간 업무위임·상태공유·결과반환의 상호운용 구조 검증</a:t>
            </a:r>
          </a:p>
        </p:txBody>
      </p:sp>
      <p:sp>
        <p:nvSpPr>
          <p:cNvPr id="71" name="Text 59"/>
          <p:cNvSpPr/>
          <p:nvPr/>
        </p:nvSpPr>
        <p:spPr>
          <a:xfrm>
            <a:off x="530352" y="8577072"/>
            <a:ext cx="1051560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200" dirty="0"/>
          </a:p>
        </p:txBody>
      </p:sp>
      <p:sp>
        <p:nvSpPr>
          <p:cNvPr id="72" name="Text 60"/>
          <p:cNvSpPr/>
          <p:nvPr/>
        </p:nvSpPr>
        <p:spPr>
          <a:xfrm>
            <a:off x="530352" y="8933688"/>
            <a:ext cx="5797296" cy="475488"/>
          </a:xfrm>
          <a:prstGeom prst="roundRect">
            <a:avLst/>
          </a:prstGeom>
          <a:solidFill>
            <a:srgbClr val="1A355E"/>
          </a:solidFill>
          <a:ln>
            <a:solidFill>
              <a:srgbClr val="1A355E">
                <a:alpha val="0"/>
              </a:srgbClr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민간 AI Agent 요청을 Gateway·서비스별 MCP Server로 통제하고 DSP·개방기관 API·A2A PoC 연계로 확장 경로 제시</a:t>
            </a:r>
            <a:endParaRPr lang="en-US" sz="1200" dirty="0"/>
          </a:p>
        </p:txBody>
      </p:sp>
      <p:sp>
        <p:nvSpPr>
          <p:cNvPr id="73" name="Text 61"/>
          <p:cNvSpPr/>
          <p:nvPr/>
        </p:nvSpPr>
        <p:spPr>
          <a:xfrm>
            <a:off x="438912" y="9546336"/>
            <a:ext cx="352044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민주정부 기반 정부공통 MCP 구축 사업</a:t>
            </a:r>
            <a:endParaRPr lang="en-US" sz="1200" dirty="0"/>
          </a:p>
        </p:txBody>
      </p:sp>
      <p:sp>
        <p:nvSpPr>
          <p:cNvPr id="74" name="Text 62"/>
          <p:cNvSpPr/>
          <p:nvPr/>
        </p:nvSpPr>
        <p:spPr>
          <a:xfrm>
            <a:off x="5989320" y="9546336"/>
            <a:ext cx="384048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2.3.1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On-screen Show (16:9)</ap:PresentationFormat>
  <ap:Paragraphs>0</ap:Paragraphs>
  <ap:Slides>1</ap:Slides>
  <ap:Notes>1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ap:HeadingPairs>
  <ap:TitlesOfParts>
    <vt:vector baseType="lpstr" size="4">
      <vt:lpstr>Arial</vt:lpstr>
      <vt:lpstr>Calibri</vt:lpstr>
      <vt:lpstr>Office Theme</vt:lpstr>
      <vt:lpstr>Slide 1</vt:lpstr>
    </vt:vector>
  </ap:TitlesOfParts>
  <ap:Company>DMTLabs</ap:Company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2.3.1. 전체 기술 아키텍처 ①</dc:title>
  <dc:subject>전체 기술 아키텍처 ①</dc:subject>
  <dc:creator>DMTLabs</dc:creator>
  <cp:lastModifiedBy>DMTLabs</cp:lastModifiedBy>
  <cp:revision>1</cp:revision>
  <dcterms:created xsi:type="dcterms:W3CDTF">2026-07-12T20:17:24Z</dcterms:created>
  <dcterms:modified xsi:type="dcterms:W3CDTF">2026-07-12T20:17:24Z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1.0.135</vt:lpwstr>
  </op:property>
  <op:property fmtid="{D5CDD505-2E9C-101B-9397-08002B2CF9AE}" pid="3" name="OfficeCLI.LastModified">
    <vt:lpwstr xmlns:vt="http://schemas.openxmlformats.org/officeDocument/2006/docPropsVTypes">2026-07-13T13:27:24Z</vt:lpwstr>
  </op:property>
</op:Properties>
</file>