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docProps/app.xml" Id="rId1" /><Relationship Type="http://schemas.openxmlformats.org/package/2006/relationships/metadata/core-properties" Target="docProps/core.xml" Id="rId2" /><Relationship Type="http://schemas.openxmlformats.org/officeDocument/2006/relationships/officeDocument" Target="ppt/presentation.xml" Id="rId3" /><Relationship Type="http://schemas.openxmlformats.org/officeDocument/2006/relationships/custom-properties" Target="/docProps/custom.xml" Id="R8aedc6cdc301452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905970"/>
  <p:notesSz cx="990597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ma14="http://schemas.microsoft.com/office/mac/drawingml/2011/main" xmlns:a="http://schemas.openxmlformats.org/drawingml/2006/main" xmlns:r="http://schemas.openxmlformats.org/officeDocument/2006/relationships" xmlns:p="http://schemas.openxmlformats.org/presentationml/2006/main" preserve="1">
  <p:cSld name="DMT_WHITE_PROPOS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8016"/>
          </a:xfrm>
          <a:prstGeom prst="rect">
            <a:avLst/>
          </a:prstGeom>
          <a:solidFill>
            <a:srgbClr val="0B2E5B"/>
          </a:solidFill>
          <a:ln w="12700">
            <a:solidFill>
              <a:srgbClr val="0B2E5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47504"/>
            <a:ext cx="6858000" cy="155448"/>
          </a:xfrm>
          <a:prstGeom prst="rect">
            <a:avLst/>
          </a:prstGeom>
          <a:solidFill>
            <a:srgbClr val="0B2E5B"/>
          </a:solidFill>
          <a:ln w="12700">
            <a:solidFill>
              <a:srgbClr val="0B2E5B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27648" y="94914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lang="en-US" b="0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ma14="http://schemas.microsoft.com/office/mac/drawingml/2011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27648" y="94914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lang="en-US" b="0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.xml"/></Relationships>
</file>

<file path=ppt/slides/slide1.xml><?xml version="1.0" encoding="utf-8"?>
<p:sld xmlns:asvg="http://schemas.microsoft.com/office/drawing/2016/SVG/main" xmlns:ma14="http://schemas.microsoft.com/office/mac/drawingml/2011/main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9184"/>
            <a:ext cx="713232" cy="292608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2.3.6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" y="283464"/>
            <a:ext cx="4526280" cy="3931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모니터링 및 관측기술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29184" y="749808"/>
            <a:ext cx="5989320" cy="3108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관측정보 수집 → 분석 → 가공 → 관제까지 통합 운영체계 구현</a:t>
            </a:r>
            <a:endParaRPr lang="en-US" sz="1200" dirty="0"/>
          </a:p>
        </p:txBody>
      </p:sp>
      <p:grpSp>
        <p:nvGrpSpPr>
          <p:cNvPr id="9001" name="관측 파이프라인 그룹"/>
          <p:cNvGrpSpPr/>
          <p:nvPr/>
        </p:nvGrpSpPr>
        <p:grpSpPr>
          <a:xfrm>
            <a:off x="0" y="0"/>
            <a:ext cx="6858000" cy="9905970"/>
            <a:chOff x="0" y="0"/>
            <a:chExt cx="6858000" cy="9905970"/>
          </a:xfrm>
        </p:grpSpPr>
        <p:sp>
          <p:nvSpPr>
            <p:cNvPr id="5" name="Text 3"/>
            <p:cNvSpPr/>
            <p:nvPr/>
          </p:nvSpPr>
          <p:spPr>
            <a:xfrm>
              <a:off x="329184" y="1207008"/>
              <a:ext cx="6199632" cy="3822192"/>
            </a:xfrm>
            <a:prstGeom prst="roundRect">
              <a:avLst/>
            </a:prstGeom>
            <a:solidFill>
              <a:srgbClr val="F8FAFC"/>
            </a:solidFill>
            <a:ln w="10160">
              <a:solidFill>
                <a:srgbClr val="CBD5E1"/>
              </a:solidFill>
            </a:ln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l">
                <a:buNone/>
              </a:pPr>
              <a:endParaRPr lang="en-US" sz="13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30352" y="1389888"/>
              <a:ext cx="2011680" cy="25603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전 구간 Observability Pipeline</a:t>
              </a:r>
              <a:endParaRPr lang="en-US" sz="1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30352" y="1755648"/>
              <a:ext cx="1243584" cy="384048"/>
            </a:xfrm>
            <a:prstGeom prst="roundRect">
              <a:avLst/>
            </a:prstGeom>
            <a:solidFill>
              <a:srgbClr val="DBEAFE"/>
            </a:solidFill>
            <a:ln w="11430">
              <a:solidFill>
                <a:srgbClr val="1D4ED8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Gateway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30352" y="2249424"/>
              <a:ext cx="1243584" cy="384048"/>
            </a:xfrm>
            <a:prstGeom prst="roundRect">
              <a:avLst/>
            </a:prstGeom>
            <a:solidFill>
              <a:srgbClr val="CCFBF1"/>
            </a:solidFill>
            <a:ln w="11430">
              <a:solidFill>
                <a:srgbClr val="14B8A6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MCP Server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30352" y="2743200"/>
              <a:ext cx="1243584" cy="384048"/>
            </a:xfrm>
            <a:prstGeom prst="roundRect">
              <a:avLst/>
            </a:prstGeom>
            <a:solidFill>
              <a:srgbClr val="F3E8FF"/>
            </a:solidFill>
            <a:ln w="11430">
              <a:solidFill>
                <a:srgbClr val="7C3AED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API Adapter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30352" y="3236976"/>
              <a:ext cx="1243584" cy="384048"/>
            </a:xfrm>
            <a:prstGeom prst="roundRect">
              <a:avLst/>
            </a:prstGeom>
            <a:solidFill>
              <a:srgbClr val="FEF3C7"/>
            </a:solidFill>
            <a:ln w="11430">
              <a:solidFill>
                <a:srgbClr val="F59E0B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모니터링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가공서버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075688" y="1901952"/>
              <a:ext cx="1353312" cy="658368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1D4ED8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OpenTelemetry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기반 계측</a:t>
              </a:r>
              <a:endParaRPr lang="en-US" sz="1300" dirty="0"/>
            </a:p>
          </p:txBody>
        </p:sp>
        <p:pic>
          <p:nvPicPr>
            <p:cNvPr id="12" name="Image 0" descr="preencoded.png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505456" y="2706624"/>
              <a:ext cx="484632" cy="484632"/>
            </a:xfrm>
            <a:prstGeom prst="rect">
              <a:avLst/>
            </a:prstGeom>
          </p:spPr>
        </p:pic>
        <p:sp>
          <p:nvSpPr>
            <p:cNvPr id="13" name="Text 10"/>
            <p:cNvSpPr/>
            <p:nvPr/>
          </p:nvSpPr>
          <p:spPr>
            <a:xfrm>
              <a:off x="3685032" y="1901952"/>
              <a:ext cx="1463040" cy="658368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14B8A6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Prometheus · Jaeger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OpenSearch</a:t>
              </a:r>
              <a:endParaRPr lang="en-US" sz="1300" dirty="0"/>
            </a:p>
          </p:txBody>
        </p:sp>
        <p:pic>
          <p:nvPicPr>
            <p:cNvPr id="14" name="Image 1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69664" y="2706624"/>
              <a:ext cx="484632" cy="484632"/>
            </a:xfrm>
            <a:prstGeom prst="rect">
              <a:avLst/>
            </a:prstGeom>
          </p:spPr>
        </p:pic>
        <p:sp>
          <p:nvSpPr>
            <p:cNvPr id="15" name="Text 11"/>
            <p:cNvSpPr/>
            <p:nvPr/>
          </p:nvSpPr>
          <p:spPr>
            <a:xfrm>
              <a:off x="5468112" y="1901952"/>
              <a:ext cx="804672" cy="658368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16A34A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Next.js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통합 관제 UI</a:t>
              </a:r>
              <a:endParaRPr lang="en-US" sz="1300" dirty="0"/>
            </a:p>
          </p:txBody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23560" y="2706624"/>
              <a:ext cx="484632" cy="484632"/>
            </a:xfrm>
            <a:prstGeom prst="rect">
              <a:avLst/>
            </a:prstGeom>
          </p:spPr>
        </p:pic>
        <p:sp>
          <p:nvSpPr>
            <p:cNvPr id="17" name="Shape 12"/>
            <p:cNvSpPr/>
            <p:nvPr/>
          </p:nvSpPr>
          <p:spPr>
            <a:xfrm>
              <a:off x="1810512" y="2112264"/>
              <a:ext cx="201168" cy="0"/>
            </a:xfrm>
            <a:prstGeom prst="line">
              <a:avLst/>
            </a:prstGeom>
            <a:noFill/>
            <a:ln w="20320">
              <a:solidFill>
                <a:srgbClr val="1D4ED8"/>
              </a:solidFill>
              <a:prstDash val="solid"/>
              <a:headEnd type="none"/>
              <a:tailEnd type="triangle"/>
            </a:ln>
          </p:spPr>
        </p:sp>
        <p:sp>
          <p:nvSpPr>
            <p:cNvPr id="18" name="Shape 13"/>
            <p:cNvSpPr/>
            <p:nvPr/>
          </p:nvSpPr>
          <p:spPr>
            <a:xfrm>
              <a:off x="3483864" y="2112264"/>
              <a:ext cx="146304" cy="0"/>
            </a:xfrm>
            <a:prstGeom prst="line">
              <a:avLst/>
            </a:prstGeom>
            <a:noFill/>
            <a:ln w="20320">
              <a:solidFill>
                <a:srgbClr val="14B8A6"/>
              </a:solidFill>
              <a:prstDash val="solid"/>
              <a:headEnd type="none"/>
              <a:tailEnd type="triangle"/>
            </a:ln>
          </p:spPr>
        </p:sp>
        <p:sp>
          <p:nvSpPr>
            <p:cNvPr id="19" name="Shape 14"/>
            <p:cNvSpPr/>
            <p:nvPr/>
          </p:nvSpPr>
          <p:spPr>
            <a:xfrm>
              <a:off x="5230368" y="2112264"/>
              <a:ext cx="173736" cy="0"/>
            </a:xfrm>
            <a:prstGeom prst="line">
              <a:avLst/>
            </a:prstGeom>
            <a:noFill/>
            <a:ln w="20320">
              <a:solidFill>
                <a:srgbClr val="16A34A"/>
              </a:solidFill>
              <a:prstDash val="solid"/>
              <a:headEnd type="none"/>
              <a:tailEnd type="triangle"/>
            </a:ln>
          </p:spPr>
        </p:sp>
        <p:sp>
          <p:nvSpPr>
            <p:cNvPr id="20" name="Text 15"/>
            <p:cNvSpPr/>
            <p:nvPr/>
          </p:nvSpPr>
          <p:spPr>
            <a:xfrm>
              <a:off x="640080" y="3730752"/>
              <a:ext cx="5577840" cy="475488"/>
            </a:xfrm>
            <a:prstGeom prst="roundRect">
              <a:avLst/>
            </a:prstGeom>
            <a:solidFill>
              <a:srgbClr val="0B2E5B"/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76200" rIns="76200" bIns="7620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공통 Trace ID와 서비스·Agent·Tool 식별정보로 단일 요청의 전체 처리 경로 추적</a:t>
              </a:r>
              <a:endParaRPr lang="en-US" sz="1300" dirty="0"/>
            </a:p>
          </p:txBody>
        </p:sp>
        <p:sp>
          <p:nvSpPr>
            <p:cNvPr id="21" name="Text 16"/>
            <p:cNvSpPr/>
            <p:nvPr/>
          </p:nvSpPr>
          <p:spPr>
            <a:xfrm>
              <a:off x="2212848" y="4370832"/>
              <a:ext cx="2450592" cy="329184"/>
            </a:xfrm>
            <a:prstGeom prst="roundRect">
              <a:avLst/>
            </a:prstGeom>
            <a:solidFill>
              <a:srgbClr val="DBEAFE"/>
            </a:solidFill>
            <a:ln w="10160">
              <a:solidFill>
                <a:srgbClr val="1D4ED8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Trace · Metric · Log</a:t>
              </a:r>
              <a:endParaRPr lang="en-US" sz="1400" dirty="0"/>
            </a:p>
          </p:txBody>
        </p:sp>
      </p:grpSp>
      <p:grpSp>
        <p:nvGrpSpPr>
          <p:cNvPr id="9002" name="수집 기능 그룹"/>
          <p:cNvGrpSpPr/>
          <p:nvPr/>
        </p:nvGrpSpPr>
        <p:grpSpPr>
          <a:xfrm>
            <a:off x="0" y="0"/>
            <a:ext cx="6858000" cy="9905970"/>
            <a:chOff x="0" y="0"/>
            <a:chExt cx="6858000" cy="9905970"/>
          </a:xfrm>
        </p:grpSpPr>
        <p:sp>
          <p:nvSpPr>
            <p:cNvPr id="22" name="Text 17"/>
            <p:cNvSpPr/>
            <p:nvPr/>
          </p:nvSpPr>
          <p:spPr>
            <a:xfrm>
              <a:off x="329184" y="5285232"/>
              <a:ext cx="2907792" cy="135331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D4ED8"/>
              </a:solidFill>
            </a:ln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l">
                <a:buNone/>
              </a:pPr>
              <a:endParaRPr lang="en-US" sz="1300" dirty="0"/>
            </a:p>
          </p:txBody>
        </p:sp>
        <p:pic>
          <p:nvPicPr>
            <p:cNvPr id="23" name="Image 3" descr="preencoded.png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5488" y="5468112"/>
              <a:ext cx="502920" cy="502920"/>
            </a:xfrm>
            <a:prstGeom prst="rect">
              <a:avLst/>
            </a:prstGeom>
          </p:spPr>
        </p:pic>
        <p:sp>
          <p:nvSpPr>
            <p:cNvPr id="24" name="Text 18"/>
            <p:cNvSpPr/>
            <p:nvPr/>
          </p:nvSpPr>
          <p:spPr>
            <a:xfrm>
              <a:off x="1097280" y="5440680"/>
              <a:ext cx="1883664" cy="42062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OpenTelemetry 기반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전 구간 수집</a:t>
              </a:r>
              <a:endParaRPr lang="en-US" sz="1300" dirty="0"/>
            </a:p>
          </p:txBody>
        </p:sp>
        <p:sp>
          <p:nvSpPr>
            <p:cNvPr id="25" name="Text 19"/>
            <p:cNvSpPr/>
            <p:nvPr/>
          </p:nvSpPr>
          <p:spPr>
            <a:xfrm>
              <a:off x="475488" y="6071616"/>
              <a:ext cx="2596896" cy="42062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27" tIns="127" rIns="127" bIns="127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Gateway, MCP Server, API Adapter, 모니터링 가공서버에 계측기능을 적용하여 Trace·Metric·Log를 수집</a:t>
              </a:r>
              <a:endParaRPr lang="en-US" sz="1200" dirty="0"/>
            </a:p>
          </p:txBody>
        </p:sp>
      </p:grpSp>
      <p:grpSp>
        <p:nvGrpSpPr>
          <p:cNvPr id="9003" name="관측 플랫폼 그룹"/>
          <p:cNvGrpSpPr/>
          <p:nvPr/>
        </p:nvGrpSpPr>
        <p:grpSpPr>
          <a:xfrm>
            <a:off x="0" y="0"/>
            <a:ext cx="6858000" cy="9905970"/>
            <a:chOff x="0" y="0"/>
            <a:chExt cx="6858000" cy="9905970"/>
          </a:xfrm>
        </p:grpSpPr>
        <p:sp>
          <p:nvSpPr>
            <p:cNvPr id="26" name="Text 20"/>
            <p:cNvSpPr/>
            <p:nvPr/>
          </p:nvSpPr>
          <p:spPr>
            <a:xfrm>
              <a:off x="3621024" y="5285232"/>
              <a:ext cx="2907792" cy="135331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4B8A6"/>
              </a:solidFill>
            </a:ln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l">
                <a:buNone/>
              </a:pPr>
              <a:endParaRPr lang="en-US" sz="1300" dirty="0"/>
            </a:p>
          </p:txBody>
        </p:sp>
        <p:pic>
          <p:nvPicPr>
            <p:cNvPr id="27" name="Image 4" descr="preencoded.png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67328" y="5468112"/>
              <a:ext cx="502920" cy="502920"/>
            </a:xfrm>
            <a:prstGeom prst="rect">
              <a:avLst/>
            </a:prstGeom>
          </p:spPr>
        </p:pic>
        <p:sp>
          <p:nvSpPr>
            <p:cNvPr id="28" name="Text 21"/>
            <p:cNvSpPr/>
            <p:nvPr/>
          </p:nvSpPr>
          <p:spPr>
            <a:xfrm>
              <a:off x="4389120" y="5440680"/>
              <a:ext cx="1883664" cy="42062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관측 플랫폼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통합 구성</a:t>
              </a:r>
              <a:endParaRPr lang="en-US" sz="1300" dirty="0"/>
            </a:p>
          </p:txBody>
        </p:sp>
        <p:sp>
          <p:nvSpPr>
            <p:cNvPr id="29" name="Text 22"/>
            <p:cNvSpPr/>
            <p:nvPr/>
          </p:nvSpPr>
          <p:spPr>
            <a:xfrm>
              <a:off x="3767328" y="6071616"/>
              <a:ext cx="2596896" cy="42062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27" tIns="127" rIns="127" bIns="127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Prometheus는 Metric, Jaeger는 분산 Trace, OpenSearch는 애플리케이션·감사·장애 로그를 통합 관리</a:t>
              </a:r>
              <a:endParaRPr lang="en-US" sz="1200" dirty="0"/>
            </a:p>
          </p:txBody>
        </p:sp>
      </p:grpSp>
      <p:grpSp>
        <p:nvGrpSpPr>
          <p:cNvPr id="9004" name="중간가공 서버 그룹"/>
          <p:cNvGrpSpPr/>
          <p:nvPr/>
        </p:nvGrpSpPr>
        <p:grpSpPr>
          <a:xfrm>
            <a:off x="0" y="0"/>
            <a:ext cx="6858000" cy="9905970"/>
            <a:chOff x="0" y="0"/>
            <a:chExt cx="6858000" cy="9905970"/>
          </a:xfrm>
        </p:grpSpPr>
        <p:sp>
          <p:nvSpPr>
            <p:cNvPr id="30" name="Text 23"/>
            <p:cNvSpPr/>
            <p:nvPr/>
          </p:nvSpPr>
          <p:spPr>
            <a:xfrm>
              <a:off x="329184" y="6903720"/>
              <a:ext cx="2907792" cy="135331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</a:ln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l">
                <a:buNone/>
              </a:pPr>
              <a:endParaRPr lang="en-US" sz="1300" dirty="0"/>
            </a:p>
          </p:txBody>
        </p:sp>
        <p:pic>
          <p:nvPicPr>
            <p:cNvPr id="31" name="Image 5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75488" y="7086600"/>
              <a:ext cx="502920" cy="502920"/>
            </a:xfrm>
            <a:prstGeom prst="rect">
              <a:avLst/>
            </a:prstGeom>
          </p:spPr>
        </p:pic>
        <p:sp>
          <p:nvSpPr>
            <p:cNvPr id="32" name="Text 24"/>
            <p:cNvSpPr/>
            <p:nvPr/>
          </p:nvSpPr>
          <p:spPr>
            <a:xfrm>
              <a:off x="1097280" y="7059168"/>
              <a:ext cx="1883664" cy="42062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중간가공 서버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통계 API 제공</a:t>
              </a:r>
              <a:endParaRPr lang="en-US" sz="1300" dirty="0"/>
            </a:p>
          </p:txBody>
        </p:sp>
        <p:sp>
          <p:nvSpPr>
            <p:cNvPr id="33" name="Text 25"/>
            <p:cNvSpPr/>
            <p:nvPr/>
          </p:nvSpPr>
          <p:spPr>
            <a:xfrm>
              <a:off x="475488" y="7690104"/>
              <a:ext cx="2596896" cy="42062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27" tIns="127" rIns="127" bIns="127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원시 관측데이터를 Agent·기관·서비스·Tool·API 단위로 결합하고 지연·오류·인증실패·이상호출 패턴을 분석</a:t>
              </a:r>
              <a:endParaRPr lang="en-US" sz="1200" dirty="0"/>
            </a:p>
          </p:txBody>
        </p:sp>
      </p:grpSp>
      <p:grpSp>
        <p:nvGrpSpPr>
          <p:cNvPr id="9005" name="통합 관제 그룹"/>
          <p:cNvGrpSpPr/>
          <p:nvPr/>
        </p:nvGrpSpPr>
        <p:grpSpPr>
          <a:xfrm>
            <a:off x="0" y="0"/>
            <a:ext cx="6858000" cy="9905970"/>
            <a:chOff x="0" y="0"/>
            <a:chExt cx="6858000" cy="9905970"/>
          </a:xfrm>
        </p:grpSpPr>
        <p:sp>
          <p:nvSpPr>
            <p:cNvPr id="34" name="Text 26"/>
            <p:cNvSpPr/>
            <p:nvPr/>
          </p:nvSpPr>
          <p:spPr>
            <a:xfrm>
              <a:off x="3621024" y="6903720"/>
              <a:ext cx="2907792" cy="135331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6A34A"/>
              </a:solidFill>
            </a:ln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l">
                <a:buNone/>
              </a:pPr>
              <a:endParaRPr lang="en-US" sz="1300" dirty="0"/>
            </a:p>
          </p:txBody>
        </p:sp>
        <p:pic>
          <p:nvPicPr>
            <p:cNvPr id="35" name="Image 6" descr="preencoded.png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767328" y="7086600"/>
              <a:ext cx="502920" cy="502920"/>
            </a:xfrm>
            <a:prstGeom prst="rect">
              <a:avLst/>
            </a:prstGeom>
          </p:spPr>
        </p:pic>
        <p:sp>
          <p:nvSpPr>
            <p:cNvPr id="36" name="Text 27"/>
            <p:cNvSpPr/>
            <p:nvPr/>
          </p:nvSpPr>
          <p:spPr>
            <a:xfrm>
              <a:off x="4389120" y="7059168"/>
              <a:ext cx="1883664" cy="42062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Next.js 기반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통합 관제</a:t>
              </a:r>
              <a:endParaRPr lang="en-US" sz="1300" dirty="0"/>
            </a:p>
          </p:txBody>
        </p:sp>
        <p:sp>
          <p:nvSpPr>
            <p:cNvPr id="37" name="Text 28"/>
            <p:cNvSpPr/>
            <p:nvPr/>
          </p:nvSpPr>
          <p:spPr>
            <a:xfrm>
              <a:off x="3767328" y="7690104"/>
              <a:ext cx="2596896" cy="42062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27" tIns="127" rIns="127" bIns="127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실시간 운영현황, 기간별 이용량, Tool 등록현황, 오류·장애 및 서비스별 성능지표를 맞춤형 UI로 시각화</a:t>
              </a:r>
              <a:endParaRPr lang="en-US" sz="1200" dirty="0"/>
            </a:p>
          </p:txBody>
        </p:sp>
      </p:grpSp>
      <p:grpSp>
        <p:nvGrpSpPr>
          <p:cNvPr id="9006" name="운영효과 그룹"/>
          <p:cNvGrpSpPr/>
          <p:nvPr/>
        </p:nvGrpSpPr>
        <p:grpSpPr>
          <a:xfrm>
            <a:off x="0" y="0"/>
            <a:ext cx="6858000" cy="9905970"/>
            <a:chOff x="0" y="0"/>
            <a:chExt cx="6858000" cy="9905970"/>
          </a:xfrm>
        </p:grpSpPr>
        <p:sp>
          <p:nvSpPr>
            <p:cNvPr id="38" name="Text 29"/>
            <p:cNvSpPr/>
            <p:nvPr/>
          </p:nvSpPr>
          <p:spPr>
            <a:xfrm>
              <a:off x="329184" y="8558784"/>
              <a:ext cx="868680" cy="347472"/>
            </a:xfrm>
            <a:prstGeom prst="roundRect">
              <a:avLst/>
            </a:prstGeom>
            <a:solidFill>
              <a:srgbClr val="0B2E5B"/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운영효과</a:t>
              </a:r>
              <a:endParaRPr lang="en-US" sz="1300" dirty="0"/>
            </a:p>
          </p:txBody>
        </p:sp>
        <p:sp>
          <p:nvSpPr>
            <p:cNvPr id="39" name="Text 30"/>
            <p:cNvSpPr/>
            <p:nvPr/>
          </p:nvSpPr>
          <p:spPr>
            <a:xfrm>
              <a:off x="1325880" y="8558784"/>
              <a:ext cx="5202936" cy="347472"/>
            </a:xfrm>
            <a:prstGeom prst="roundRect">
              <a:avLst/>
            </a:prstGeom>
            <a:solidFill>
              <a:srgbClr val="EFF6FF"/>
            </a:solidFill>
            <a:ln w="8890">
              <a:solidFill>
                <a:srgbClr val="DBEAF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2E5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상용 관제도구의 기본 화면에 의존하지 않고, 공공서비스 운영업무·웹 접근성 요건에 맞춘 관측 데이터 기반 의사결정 체계 확보</a:t>
              </a:r>
              <a:endParaRPr lang="en-US" sz="1200" dirty="0"/>
            </a:p>
          </p:txBody>
        </p:sp>
      </p:grpSp>
      <p:sp>
        <p:nvSpPr>
          <p:cNvPr id="40" name="Text 31"/>
          <p:cNvSpPr/>
          <p:nvPr/>
        </p:nvSpPr>
        <p:spPr>
          <a:xfrm>
            <a:off x="329184" y="9400032"/>
            <a:ext cx="2926080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정부공통 MCP 운영관측 체계 구축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27648" y="9491472"/>
            <a:ext cx="381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On-screen Show (16:9)</ap:PresentationFormat>
  <ap:Paragraphs>0</ap:Paragraphs>
  <ap:Slides>1</ap:Slides>
  <ap:Notes>1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ap:HeadingPairs>
  <ap:TitlesOfParts>
    <vt:vector baseType="lpstr" size="4">
      <vt:lpstr>Arial</vt:lpstr>
      <vt:lpstr>Calibri</vt:lpstr>
      <vt:lpstr>Office Theme</vt:lpstr>
      <vt:lpstr>Slide 1</vt:lpstr>
    </vt:vector>
  </ap:TitlesOfParts>
  <ap:Company>DMTLabs</ap:Company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모니터링 및 관측기술 인포그래픽</dc:title>
  <dc:subject>2.3.6 모니터링 및 관측기술</dc:subject>
  <dc:creator>DMTLabs</dc:creator>
  <cp:lastModifiedBy>DMTLabs</cp:lastModifiedBy>
  <cp:revision>1</cp:revision>
  <dcterms:created xsi:type="dcterms:W3CDTF">2026-07-12T22:26:10Z</dcterms:created>
  <dcterms:modified xsi:type="dcterms:W3CDTF">2026-07-12T22:26:10Z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1.0.135</vt:lpwstr>
  </op:property>
  <op:property fmtid="{D5CDD505-2E9C-101B-9397-08002B2CF9AE}" pid="3" name="OfficeCLI.LastModified">
    <vt:lpwstr xmlns:vt="http://schemas.openxmlformats.org/officeDocument/2006/docPropsVTypes">2026-07-13T13:27:26Z</vt:lpwstr>
  </op:property>
</op:Properties>
</file>